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3.xml" ContentType="application/vnd.openxmlformats-officedocument.presentationml.slide+xml"/>
  <Override PartName="/ppt/slides/slide14.xml" ContentType="application/vnd.openxmlformats-officedocument.presentationml.slide+xml"/>
  <Override PartName="/ppt/notesSlides/notesSlide13.xml" ContentType="application/vnd.openxmlformats-officedocument.presentationml.notesSlide+xml"/>
  <Override PartName="/ppt/notesSlides/notesSlide14.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9" r:id="rId20"/>
    <p:sldId id="268" r:id="rId19"/>
    <p:sldId id="267" r:id="rId13"/>
    <p:sldId id="260" r:id="rId6"/>
    <p:sldId id="261" r:id="rId7"/>
    <p:sldId id="262" r:id="rId8"/>
    <p:sldId id="263" r:id="rId9"/>
    <p:sldId id="264" r:id="rId10"/>
    <p:sldId id="265" r:id="rId11"/>
    <p:sldId id="266" r:id="rId12"/>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d451372-f574-096d-6831-85ec43296ec4}">
          <p14:sldIdLst>
            <p14:sldId id="256"/>
            <p14:sldId id="257"/>
            <p14:sldId id="258"/>
          </p14:sldIdLst>
        </p14:section>
        <p14:section name="Approach" id="{f24554cd-fd17-2e15-0a83-f693e4e3c7c0}">
          <p14:sldIdLst>
            <p14:sldId id="259"/>
            <p14:sldId id="260"/>
          </p14:sldIdLst>
        </p14:section>
        <p14:section name="Results" id="{75b4a721-614d-7f27-331d-9f130bda8c32}">
          <p14:sldIdLst>
            <p14:sldId id="261"/>
            <p14:sldId id="262"/>
            <p14:sldId id="263"/>
            <p14:sldId id="264"/>
          </p14:sldIdLst>
        </p14:section>
        <p14:section name="Context and engineering" id="{d613a832-1f77-b040-d08d-34d7f8324f69}">
          <p14:sldIdLst>
            <p14:sldId id="265"/>
            <p14:sldId id="266"/>
          </p14:sldIdLst>
        </p14:section>
        <p14:section name="Close" id="{ef04935e-b1ce-09f3-79a5-d9c13eeb6bf0}">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  <Relationship Id="rId19" Type="http://schemas.openxmlformats.org/officeDocument/2006/relationships/slide" Target="slides/slide13.xml"/>
  <Relationship Id="rId20" Type="http://schemas.openxmlformats.org/officeDocument/2006/relationships/slide" Target="slides/slide14.xml"/>
</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Uncoordinated</c:v>
                </c:pt>
              </c:strCache>
            </c:strRef>
          </c:tx>
          <c:spPr>
            <a:solidFill>
              <a:srgbClr val="D1495B"/>
            </a:solidFill>
            <a:ln w="25400" cap="flat">
              <a:solidFill>
                <a:srgbClr val="D1495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D1495B"/>
              </a:solidFill>
              <a:ln w="9525" cap="flat">
                <a:solidFill>
                  <a:srgbClr val="D1495B"/>
                </a:solidFill>
                <a:prstDash val="solid"/>
                <a:round/>
              </a:ln>
              <a:effectLst/>
            </c:spPr>
          </c:marker>
          <c:cat>
            <c:multiLvlStrRef>
              <c:f>Sheet1!$A$2:$A$65</c:f>
              <c:multiLvlStrCache>
                <c:ptCount val="64"/>
                <c:lvl>
                  <c:pt idx="0">
                    <c:v>16:00</c:v>
                  </c:pt>
                  <c:pt idx="1">
                    <c:v/>
                  </c:pt>
                  <c:pt idx="2">
                    <c:v/>
                  </c:pt>
                  <c:pt idx="3">
                    <c:v/>
                  </c:pt>
                  <c:pt idx="4">
                    <c:v/>
                  </c:pt>
                  <c:pt idx="5">
                    <c:v/>
                  </c:pt>
                  <c:pt idx="6">
                    <c:v/>
                  </c:pt>
                  <c:pt idx="7">
                    <c:v/>
                  </c:pt>
                  <c:pt idx="8">
                    <c:v>18:00</c:v>
                  </c:pt>
                  <c:pt idx="9">
                    <c:v/>
                  </c:pt>
                  <c:pt idx="10">
                    <c:v/>
                  </c:pt>
                  <c:pt idx="11">
                    <c:v/>
                  </c:pt>
                  <c:pt idx="12">
                    <c:v/>
                  </c:pt>
                  <c:pt idx="13">
                    <c:v/>
                  </c:pt>
                  <c:pt idx="14">
                    <c:v/>
                  </c:pt>
                  <c:pt idx="15">
                    <c:v/>
                  </c:pt>
                  <c:pt idx="16">
                    <c:v>20:00</c:v>
                  </c:pt>
                  <c:pt idx="17">
                    <c:v/>
                  </c:pt>
                  <c:pt idx="18">
                    <c:v/>
                  </c:pt>
                  <c:pt idx="19">
                    <c:v/>
                  </c:pt>
                  <c:pt idx="20">
                    <c:v/>
                  </c:pt>
                  <c:pt idx="21">
                    <c:v/>
                  </c:pt>
                  <c:pt idx="22">
                    <c:v/>
                  </c:pt>
                  <c:pt idx="23">
                    <c:v/>
                  </c:pt>
                  <c:pt idx="24">
                    <c:v>22:00</c:v>
                  </c:pt>
                  <c:pt idx="25">
                    <c:v/>
                  </c:pt>
                  <c:pt idx="26">
                    <c:v/>
                  </c:pt>
                  <c:pt idx="27">
                    <c:v/>
                  </c:pt>
                  <c:pt idx="28">
                    <c:v/>
                  </c:pt>
                  <c:pt idx="29">
                    <c:v/>
                  </c:pt>
                  <c:pt idx="30">
                    <c:v/>
                  </c:pt>
                  <c:pt idx="31">
                    <c:v/>
                  </c:pt>
                  <c:pt idx="32">
                    <c:v>00:00</c:v>
                  </c:pt>
                  <c:pt idx="33">
                    <c:v/>
                  </c:pt>
                  <c:pt idx="34">
                    <c:v/>
                  </c:pt>
                  <c:pt idx="35">
                    <c:v/>
                  </c:pt>
                  <c:pt idx="36">
                    <c:v/>
                  </c:pt>
                  <c:pt idx="37">
                    <c:v/>
                  </c:pt>
                  <c:pt idx="38">
                    <c:v/>
                  </c:pt>
                  <c:pt idx="39">
                    <c:v/>
                  </c:pt>
                  <c:pt idx="40">
                    <c:v>02:00</c:v>
                  </c:pt>
                  <c:pt idx="41">
                    <c:v/>
                  </c:pt>
                  <c:pt idx="42">
                    <c:v/>
                  </c:pt>
                  <c:pt idx="43">
                    <c:v/>
                  </c:pt>
                  <c:pt idx="44">
                    <c:v/>
                  </c:pt>
                  <c:pt idx="45">
                    <c:v/>
                  </c:pt>
                  <c:pt idx="46">
                    <c:v/>
                  </c:pt>
                  <c:pt idx="47">
                    <c:v/>
                  </c:pt>
                  <c:pt idx="48">
                    <c:v>04:00</c:v>
                  </c:pt>
                  <c:pt idx="49">
                    <c:v/>
                  </c:pt>
                  <c:pt idx="50">
                    <c:v/>
                  </c:pt>
                  <c:pt idx="51">
                    <c:v/>
                  </c:pt>
                  <c:pt idx="52">
                    <c:v/>
                  </c:pt>
                  <c:pt idx="53">
                    <c:v/>
                  </c:pt>
                  <c:pt idx="54">
                    <c:v/>
                  </c:pt>
                  <c:pt idx="55">
                    <c:v/>
                  </c:pt>
                  <c:pt idx="56">
                    <c:v>06:00</c:v>
                  </c:pt>
                  <c:pt idx="57">
                    <c:v/>
                  </c:pt>
                  <c:pt idx="58">
                    <c:v/>
                  </c:pt>
                  <c:pt idx="59">
                    <c:v/>
                  </c:pt>
                  <c:pt idx="60">
                    <c:v/>
                  </c:pt>
                  <c:pt idx="61">
                    <c:v/>
                  </c:pt>
                  <c:pt idx="62">
                    <c:v/>
                  </c:pt>
                  <c:pt idx="63">
                    <c:v/>
                  </c:pt>
                </c:lvl>
              </c:multiLvlStrCache>
            </c:multiLvlStrRef>
          </c:cat>
          <c:val>
            <c:numRef>
              <c:f>Sheet1!$B$2:$B$65</c:f>
              <c:numCache>
                <c:formatCode>General</c:formatCode>
                <c:ptCount val="64"/>
                <c:pt idx="0">
                  <c:v>17.94</c:v>
                </c:pt>
                <c:pt idx="1">
                  <c:v>18.1</c:v>
                </c:pt>
                <c:pt idx="2">
                  <c:v>18.25</c:v>
                </c:pt>
                <c:pt idx="3">
                  <c:v>18.35</c:v>
                </c:pt>
                <c:pt idx="4">
                  <c:v>18.58</c:v>
                </c:pt>
                <c:pt idx="5">
                  <c:v>18.77</c:v>
                </c:pt>
                <c:pt idx="6">
                  <c:v>18.93</c:v>
                </c:pt>
                <c:pt idx="7">
                  <c:v>19.03</c:v>
                </c:pt>
                <c:pt idx="8">
                  <c:v>14.71</c:v>
                </c:pt>
                <c:pt idx="9">
                  <c:v>14.82</c:v>
                </c:pt>
                <c:pt idx="10">
                  <c:v>14.84</c:v>
                </c:pt>
                <c:pt idx="11">
                  <c:v>14.91</c:v>
                </c:pt>
                <c:pt idx="12">
                  <c:v>14.91</c:v>
                </c:pt>
                <c:pt idx="13">
                  <c:v>14.89</c:v>
                </c:pt>
                <c:pt idx="14">
                  <c:v>14.83</c:v>
                </c:pt>
                <c:pt idx="15">
                  <c:v>14.71</c:v>
                </c:pt>
                <c:pt idx="16">
                  <c:v>11.12</c:v>
                </c:pt>
                <c:pt idx="17">
                  <c:v>7.27</c:v>
                </c:pt>
                <c:pt idx="18">
                  <c:v>7.04</c:v>
                </c:pt>
                <c:pt idx="19">
                  <c:v>6.94</c:v>
                </c:pt>
                <c:pt idx="20">
                  <c:v>6.77</c:v>
                </c:pt>
                <c:pt idx="21">
                  <c:v>6.5</c:v>
                </c:pt>
                <c:pt idx="22">
                  <c:v>6.48</c:v>
                </c:pt>
                <c:pt idx="23">
                  <c:v>6.26</c:v>
                </c:pt>
                <c:pt idx="24">
                  <c:v>6.25</c:v>
                </c:pt>
                <c:pt idx="25">
                  <c:v>2.66</c:v>
                </c:pt>
                <c:pt idx="26">
                  <c:v>6.08</c:v>
                </c:pt>
                <c:pt idx="27">
                  <c:v>2.54</c:v>
                </c:pt>
                <c:pt idx="28">
                  <c:v>2.51</c:v>
                </c:pt>
                <c:pt idx="29">
                  <c:v>5.99</c:v>
                </c:pt>
                <c:pt idx="30">
                  <c:v>5.99</c:v>
                </c:pt>
                <c:pt idx="31">
                  <c:v>2.5</c:v>
                </c:pt>
                <c:pt idx="32">
                  <c:v>2.52</c:v>
                </c:pt>
                <c:pt idx="33">
                  <c:v>2.54</c:v>
                </c:pt>
                <c:pt idx="34">
                  <c:v>2.56</c:v>
                </c:pt>
                <c:pt idx="35">
                  <c:v>2.59</c:v>
                </c:pt>
                <c:pt idx="36">
                  <c:v>2.61</c:v>
                </c:pt>
                <c:pt idx="37">
                  <c:v>2.64</c:v>
                </c:pt>
                <c:pt idx="38">
                  <c:v>2.67</c:v>
                </c:pt>
                <c:pt idx="39">
                  <c:v>2.69</c:v>
                </c:pt>
                <c:pt idx="40">
                  <c:v>2.71</c:v>
                </c:pt>
                <c:pt idx="41">
                  <c:v>2.73</c:v>
                </c:pt>
                <c:pt idx="42">
                  <c:v>2.75</c:v>
                </c:pt>
                <c:pt idx="43">
                  <c:v>2.77</c:v>
                </c:pt>
                <c:pt idx="44">
                  <c:v>2.78</c:v>
                </c:pt>
                <c:pt idx="45">
                  <c:v>2.79</c:v>
                </c:pt>
                <c:pt idx="46">
                  <c:v>2.8</c:v>
                </c:pt>
                <c:pt idx="47">
                  <c:v>2.8</c:v>
                </c:pt>
                <c:pt idx="48">
                  <c:v>2.8</c:v>
                </c:pt>
                <c:pt idx="49">
                  <c:v>2.8</c:v>
                </c:pt>
                <c:pt idx="50">
                  <c:v>2.79</c:v>
                </c:pt>
                <c:pt idx="51">
                  <c:v>2.78</c:v>
                </c:pt>
                <c:pt idx="52">
                  <c:v>2.77</c:v>
                </c:pt>
                <c:pt idx="53">
                  <c:v>2.75</c:v>
                </c:pt>
                <c:pt idx="54">
                  <c:v>2.74</c:v>
                </c:pt>
                <c:pt idx="55">
                  <c:v>2.71</c:v>
                </c:pt>
                <c:pt idx="56">
                  <c:v>2.69</c:v>
                </c:pt>
                <c:pt idx="57">
                  <c:v>2.67</c:v>
                </c:pt>
                <c:pt idx="58">
                  <c:v>2.64</c:v>
                </c:pt>
                <c:pt idx="59">
                  <c:v>2.61</c:v>
                </c:pt>
                <c:pt idx="60">
                  <c:v>2.58</c:v>
                </c:pt>
                <c:pt idx="61">
                  <c:v>2.55</c:v>
                </c:pt>
                <c:pt idx="62">
                  <c:v>2.53</c:v>
                </c:pt>
                <c:pt idx="63">
                  <c:v>2.5</c:v>
                </c:pt>
              </c:numCache>
            </c:numRef>
          </c:val>
          <c:smooth val="0"/>
        </c:ser>
        <c:ser>
          <c:idx val="1"/>
          <c:order val="1"/>
          <c:tx>
            <c:strRef>
              <c:f>Sheet1!$C$1</c:f>
              <c:strCache>
                <c:ptCount val="1"/>
                <c:pt idx="0">
                  <c:v>PeakPilot</c:v>
                </c:pt>
              </c:strCache>
            </c:strRef>
          </c:tx>
          <c:spPr>
            <a:solidFill>
              <a:srgbClr val="1F9E89"/>
            </a:solidFill>
            <a:ln w="25400" cap="flat">
              <a:solidFill>
                <a:srgbClr val="1F9E8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F9E89"/>
              </a:solidFill>
              <a:ln w="9525" cap="flat">
                <a:solidFill>
                  <a:srgbClr val="1F9E89"/>
                </a:solidFill>
                <a:prstDash val="solid"/>
                <a:round/>
              </a:ln>
              <a:effectLst/>
            </c:spPr>
          </c:marker>
          <c:cat>
            <c:multiLvlStrRef>
              <c:f>Sheet1!$A$2:$A$65</c:f>
              <c:multiLvlStrCache>
                <c:ptCount val="64"/>
                <c:lvl>
                  <c:pt idx="0">
                    <c:v>16:00</c:v>
                  </c:pt>
                  <c:pt idx="1">
                    <c:v/>
                  </c:pt>
                  <c:pt idx="2">
                    <c:v/>
                  </c:pt>
                  <c:pt idx="3">
                    <c:v/>
                  </c:pt>
                  <c:pt idx="4">
                    <c:v/>
                  </c:pt>
                  <c:pt idx="5">
                    <c:v/>
                  </c:pt>
                  <c:pt idx="6">
                    <c:v/>
                  </c:pt>
                  <c:pt idx="7">
                    <c:v/>
                  </c:pt>
                  <c:pt idx="8">
                    <c:v>18:00</c:v>
                  </c:pt>
                  <c:pt idx="9">
                    <c:v/>
                  </c:pt>
                  <c:pt idx="10">
                    <c:v/>
                  </c:pt>
                  <c:pt idx="11">
                    <c:v/>
                  </c:pt>
                  <c:pt idx="12">
                    <c:v/>
                  </c:pt>
                  <c:pt idx="13">
                    <c:v/>
                  </c:pt>
                  <c:pt idx="14">
                    <c:v/>
                  </c:pt>
                  <c:pt idx="15">
                    <c:v/>
                  </c:pt>
                  <c:pt idx="16">
                    <c:v>20:00</c:v>
                  </c:pt>
                  <c:pt idx="17">
                    <c:v/>
                  </c:pt>
                  <c:pt idx="18">
                    <c:v/>
                  </c:pt>
                  <c:pt idx="19">
                    <c:v/>
                  </c:pt>
                  <c:pt idx="20">
                    <c:v/>
                  </c:pt>
                  <c:pt idx="21">
                    <c:v/>
                  </c:pt>
                  <c:pt idx="22">
                    <c:v/>
                  </c:pt>
                  <c:pt idx="23">
                    <c:v/>
                  </c:pt>
                  <c:pt idx="24">
                    <c:v>22:00</c:v>
                  </c:pt>
                  <c:pt idx="25">
                    <c:v/>
                  </c:pt>
                  <c:pt idx="26">
                    <c:v/>
                  </c:pt>
                  <c:pt idx="27">
                    <c:v/>
                  </c:pt>
                  <c:pt idx="28">
                    <c:v/>
                  </c:pt>
                  <c:pt idx="29">
                    <c:v/>
                  </c:pt>
                  <c:pt idx="30">
                    <c:v/>
                  </c:pt>
                  <c:pt idx="31">
                    <c:v/>
                  </c:pt>
                  <c:pt idx="32">
                    <c:v>00:00</c:v>
                  </c:pt>
                  <c:pt idx="33">
                    <c:v/>
                  </c:pt>
                  <c:pt idx="34">
                    <c:v/>
                  </c:pt>
                  <c:pt idx="35">
                    <c:v/>
                  </c:pt>
                  <c:pt idx="36">
                    <c:v/>
                  </c:pt>
                  <c:pt idx="37">
                    <c:v/>
                  </c:pt>
                  <c:pt idx="38">
                    <c:v/>
                  </c:pt>
                  <c:pt idx="39">
                    <c:v/>
                  </c:pt>
                  <c:pt idx="40">
                    <c:v>02:00</c:v>
                  </c:pt>
                  <c:pt idx="41">
                    <c:v/>
                  </c:pt>
                  <c:pt idx="42">
                    <c:v/>
                  </c:pt>
                  <c:pt idx="43">
                    <c:v/>
                  </c:pt>
                  <c:pt idx="44">
                    <c:v/>
                  </c:pt>
                  <c:pt idx="45">
                    <c:v/>
                  </c:pt>
                  <c:pt idx="46">
                    <c:v/>
                  </c:pt>
                  <c:pt idx="47">
                    <c:v/>
                  </c:pt>
                  <c:pt idx="48">
                    <c:v>04:00</c:v>
                  </c:pt>
                  <c:pt idx="49">
                    <c:v/>
                  </c:pt>
                  <c:pt idx="50">
                    <c:v/>
                  </c:pt>
                  <c:pt idx="51">
                    <c:v/>
                  </c:pt>
                  <c:pt idx="52">
                    <c:v/>
                  </c:pt>
                  <c:pt idx="53">
                    <c:v/>
                  </c:pt>
                  <c:pt idx="54">
                    <c:v/>
                  </c:pt>
                  <c:pt idx="55">
                    <c:v/>
                  </c:pt>
                  <c:pt idx="56">
                    <c:v>06:00</c:v>
                  </c:pt>
                  <c:pt idx="57">
                    <c:v/>
                  </c:pt>
                  <c:pt idx="58">
                    <c:v/>
                  </c:pt>
                  <c:pt idx="59">
                    <c:v/>
                  </c:pt>
                  <c:pt idx="60">
                    <c:v/>
                  </c:pt>
                  <c:pt idx="61">
                    <c:v/>
                  </c:pt>
                  <c:pt idx="62">
                    <c:v/>
                  </c:pt>
                  <c:pt idx="63">
                    <c:v/>
                  </c:pt>
                </c:lvl>
              </c:multiLvlStrCache>
            </c:multiLvlStrRef>
          </c:cat>
          <c:val>
            <c:numRef>
              <c:f>Sheet1!$C$2:$C$65</c:f>
              <c:numCache>
                <c:formatCode>General</c:formatCode>
                <c:ptCount val="64"/>
                <c:pt idx="0">
                  <c:v>13.43</c:v>
                </c:pt>
                <c:pt idx="1">
                  <c:v>13.6</c:v>
                </c:pt>
                <c:pt idx="2">
                  <c:v>13.75</c:v>
                </c:pt>
                <c:pt idx="3">
                  <c:v>13.92</c:v>
                </c:pt>
                <c:pt idx="4">
                  <c:v>14</c:v>
                </c:pt>
                <c:pt idx="5">
                  <c:v>14</c:v>
                </c:pt>
                <c:pt idx="6">
                  <c:v>14</c:v>
                </c:pt>
                <c:pt idx="7">
                  <c:v>14</c:v>
                </c:pt>
                <c:pt idx="8">
                  <c:v>14</c:v>
                </c:pt>
                <c:pt idx="9">
                  <c:v>14</c:v>
                </c:pt>
                <c:pt idx="10">
                  <c:v>14</c:v>
                </c:pt>
                <c:pt idx="11">
                  <c:v>14</c:v>
                </c:pt>
                <c:pt idx="12">
                  <c:v>14</c:v>
                </c:pt>
                <c:pt idx="13">
                  <c:v>14</c:v>
                </c:pt>
                <c:pt idx="14">
                  <c:v>14</c:v>
                </c:pt>
                <c:pt idx="15">
                  <c:v>14</c:v>
                </c:pt>
                <c:pt idx="16">
                  <c:v>14</c:v>
                </c:pt>
                <c:pt idx="17">
                  <c:v>14</c:v>
                </c:pt>
                <c:pt idx="18">
                  <c:v>14</c:v>
                </c:pt>
                <c:pt idx="19">
                  <c:v>14</c:v>
                </c:pt>
                <c:pt idx="20">
                  <c:v>13.98</c:v>
                </c:pt>
                <c:pt idx="21">
                  <c:v>6.55</c:v>
                </c:pt>
                <c:pt idx="22">
                  <c:v>6.48</c:v>
                </c:pt>
                <c:pt idx="23">
                  <c:v>6.33</c:v>
                </c:pt>
                <c:pt idx="24">
                  <c:v>2.75</c:v>
                </c:pt>
                <c:pt idx="25">
                  <c:v>6.15</c:v>
                </c:pt>
                <c:pt idx="26">
                  <c:v>2.59</c:v>
                </c:pt>
                <c:pt idx="27">
                  <c:v>6.04</c:v>
                </c:pt>
                <c:pt idx="28">
                  <c:v>2.51</c:v>
                </c:pt>
                <c:pt idx="29">
                  <c:v>5.99</c:v>
                </c:pt>
                <c:pt idx="30">
                  <c:v>5.99</c:v>
                </c:pt>
                <c:pt idx="31">
                  <c:v>2.5</c:v>
                </c:pt>
                <c:pt idx="32">
                  <c:v>2.52</c:v>
                </c:pt>
                <c:pt idx="33">
                  <c:v>2.54</c:v>
                </c:pt>
                <c:pt idx="34">
                  <c:v>2.56</c:v>
                </c:pt>
                <c:pt idx="35">
                  <c:v>2.59</c:v>
                </c:pt>
                <c:pt idx="36">
                  <c:v>2.61</c:v>
                </c:pt>
                <c:pt idx="37">
                  <c:v>2.64</c:v>
                </c:pt>
                <c:pt idx="38">
                  <c:v>2.67</c:v>
                </c:pt>
                <c:pt idx="39">
                  <c:v>2.69</c:v>
                </c:pt>
                <c:pt idx="40">
                  <c:v>2.71</c:v>
                </c:pt>
                <c:pt idx="41">
                  <c:v>2.73</c:v>
                </c:pt>
                <c:pt idx="42">
                  <c:v>2.75</c:v>
                </c:pt>
                <c:pt idx="43">
                  <c:v>2.77</c:v>
                </c:pt>
                <c:pt idx="44">
                  <c:v>2.78</c:v>
                </c:pt>
                <c:pt idx="45">
                  <c:v>2.79</c:v>
                </c:pt>
                <c:pt idx="46">
                  <c:v>2.8</c:v>
                </c:pt>
                <c:pt idx="47">
                  <c:v>2.8</c:v>
                </c:pt>
                <c:pt idx="48">
                  <c:v>2.8</c:v>
                </c:pt>
                <c:pt idx="49">
                  <c:v>2.8</c:v>
                </c:pt>
                <c:pt idx="50">
                  <c:v>2.79</c:v>
                </c:pt>
                <c:pt idx="51">
                  <c:v>2.78</c:v>
                </c:pt>
                <c:pt idx="52">
                  <c:v>2.77</c:v>
                </c:pt>
                <c:pt idx="53">
                  <c:v>2.75</c:v>
                </c:pt>
                <c:pt idx="54">
                  <c:v>2.74</c:v>
                </c:pt>
                <c:pt idx="55">
                  <c:v>2.71</c:v>
                </c:pt>
                <c:pt idx="56">
                  <c:v>2.69</c:v>
                </c:pt>
                <c:pt idx="57">
                  <c:v>2.67</c:v>
                </c:pt>
                <c:pt idx="58">
                  <c:v>2.64</c:v>
                </c:pt>
                <c:pt idx="59">
                  <c:v>2.61</c:v>
                </c:pt>
                <c:pt idx="60">
                  <c:v>2.58</c:v>
                </c:pt>
                <c:pt idx="61">
                  <c:v>2.55</c:v>
                </c:pt>
                <c:pt idx="62">
                  <c:v>2.53</c:v>
                </c:pt>
                <c:pt idx="63">
                  <c:v>2.5</c:v>
                </c:pt>
              </c:numCache>
            </c:numRef>
          </c:val>
          <c:smooth val="0"/>
        </c:ser>
        <c:ser>
          <c:idx val="2"/>
          <c:order val="2"/>
          <c:tx>
            <c:strRef>
              <c:f>Sheet1!$D$1</c:f>
              <c:strCache>
                <c:ptCount val="1"/>
                <c:pt idx="0">
                  <c:v>14 kW limit</c:v>
                </c:pt>
              </c:strCache>
            </c:strRef>
          </c:tx>
          <c:spPr>
            <a:solidFill>
              <a:srgbClr val="5C6B7A"/>
            </a:solidFill>
            <a:ln w="25400" cap="flat">
              <a:solidFill>
                <a:srgbClr val="5C6B7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5C6B7A"/>
              </a:solidFill>
              <a:ln w="9525" cap="flat">
                <a:solidFill>
                  <a:srgbClr val="5C6B7A"/>
                </a:solidFill>
                <a:prstDash val="solid"/>
                <a:round/>
              </a:ln>
              <a:effectLst/>
            </c:spPr>
          </c:marker>
          <c:cat>
            <c:multiLvlStrRef>
              <c:f>Sheet1!$A$2:$A$65</c:f>
              <c:multiLvlStrCache>
                <c:ptCount val="64"/>
                <c:lvl>
                  <c:pt idx="0">
                    <c:v>16:00</c:v>
                  </c:pt>
                  <c:pt idx="1">
                    <c:v/>
                  </c:pt>
                  <c:pt idx="2">
                    <c:v/>
                  </c:pt>
                  <c:pt idx="3">
                    <c:v/>
                  </c:pt>
                  <c:pt idx="4">
                    <c:v/>
                  </c:pt>
                  <c:pt idx="5">
                    <c:v/>
                  </c:pt>
                  <c:pt idx="6">
                    <c:v/>
                  </c:pt>
                  <c:pt idx="7">
                    <c:v/>
                  </c:pt>
                  <c:pt idx="8">
                    <c:v>18:00</c:v>
                  </c:pt>
                  <c:pt idx="9">
                    <c:v/>
                  </c:pt>
                  <c:pt idx="10">
                    <c:v/>
                  </c:pt>
                  <c:pt idx="11">
                    <c:v/>
                  </c:pt>
                  <c:pt idx="12">
                    <c:v/>
                  </c:pt>
                  <c:pt idx="13">
                    <c:v/>
                  </c:pt>
                  <c:pt idx="14">
                    <c:v/>
                  </c:pt>
                  <c:pt idx="15">
                    <c:v/>
                  </c:pt>
                  <c:pt idx="16">
                    <c:v>20:00</c:v>
                  </c:pt>
                  <c:pt idx="17">
                    <c:v/>
                  </c:pt>
                  <c:pt idx="18">
                    <c:v/>
                  </c:pt>
                  <c:pt idx="19">
                    <c:v/>
                  </c:pt>
                  <c:pt idx="20">
                    <c:v/>
                  </c:pt>
                  <c:pt idx="21">
                    <c:v/>
                  </c:pt>
                  <c:pt idx="22">
                    <c:v/>
                  </c:pt>
                  <c:pt idx="23">
                    <c:v/>
                  </c:pt>
                  <c:pt idx="24">
                    <c:v>22:00</c:v>
                  </c:pt>
                  <c:pt idx="25">
                    <c:v/>
                  </c:pt>
                  <c:pt idx="26">
                    <c:v/>
                  </c:pt>
                  <c:pt idx="27">
                    <c:v/>
                  </c:pt>
                  <c:pt idx="28">
                    <c:v/>
                  </c:pt>
                  <c:pt idx="29">
                    <c:v/>
                  </c:pt>
                  <c:pt idx="30">
                    <c:v/>
                  </c:pt>
                  <c:pt idx="31">
                    <c:v/>
                  </c:pt>
                  <c:pt idx="32">
                    <c:v>00:00</c:v>
                  </c:pt>
                  <c:pt idx="33">
                    <c:v/>
                  </c:pt>
                  <c:pt idx="34">
                    <c:v/>
                  </c:pt>
                  <c:pt idx="35">
                    <c:v/>
                  </c:pt>
                  <c:pt idx="36">
                    <c:v/>
                  </c:pt>
                  <c:pt idx="37">
                    <c:v/>
                  </c:pt>
                  <c:pt idx="38">
                    <c:v/>
                  </c:pt>
                  <c:pt idx="39">
                    <c:v/>
                  </c:pt>
                  <c:pt idx="40">
                    <c:v>02:00</c:v>
                  </c:pt>
                  <c:pt idx="41">
                    <c:v/>
                  </c:pt>
                  <c:pt idx="42">
                    <c:v/>
                  </c:pt>
                  <c:pt idx="43">
                    <c:v/>
                  </c:pt>
                  <c:pt idx="44">
                    <c:v/>
                  </c:pt>
                  <c:pt idx="45">
                    <c:v/>
                  </c:pt>
                  <c:pt idx="46">
                    <c:v/>
                  </c:pt>
                  <c:pt idx="47">
                    <c:v/>
                  </c:pt>
                  <c:pt idx="48">
                    <c:v>04:00</c:v>
                  </c:pt>
                  <c:pt idx="49">
                    <c:v/>
                  </c:pt>
                  <c:pt idx="50">
                    <c:v/>
                  </c:pt>
                  <c:pt idx="51">
                    <c:v/>
                  </c:pt>
                  <c:pt idx="52">
                    <c:v/>
                  </c:pt>
                  <c:pt idx="53">
                    <c:v/>
                  </c:pt>
                  <c:pt idx="54">
                    <c:v/>
                  </c:pt>
                  <c:pt idx="55">
                    <c:v/>
                  </c:pt>
                  <c:pt idx="56">
                    <c:v>06:00</c:v>
                  </c:pt>
                  <c:pt idx="57">
                    <c:v/>
                  </c:pt>
                  <c:pt idx="58">
                    <c:v/>
                  </c:pt>
                  <c:pt idx="59">
                    <c:v/>
                  </c:pt>
                  <c:pt idx="60">
                    <c:v/>
                  </c:pt>
                  <c:pt idx="61">
                    <c:v/>
                  </c:pt>
                  <c:pt idx="62">
                    <c:v/>
                  </c:pt>
                  <c:pt idx="63">
                    <c:v/>
                  </c:pt>
                </c:lvl>
              </c:multiLvlStrCache>
            </c:multiLvlStrRef>
          </c:cat>
          <c:val>
            <c:numRef>
              <c:f>Sheet1!$D$2:$D$65</c:f>
              <c:numCache>
                <c:formatCode>General</c:formatCode>
                <c:ptCount val="64"/>
                <c:pt idx="0">
                  <c:v>14</c:v>
                </c:pt>
                <c:pt idx="1">
                  <c:v>14</c:v>
                </c:pt>
                <c:pt idx="2">
                  <c:v>14</c:v>
                </c:pt>
                <c:pt idx="3">
                  <c:v>14</c:v>
                </c:pt>
                <c:pt idx="4">
                  <c:v>14</c:v>
                </c:pt>
                <c:pt idx="5">
                  <c:v>14</c:v>
                </c:pt>
                <c:pt idx="6">
                  <c:v>14</c:v>
                </c:pt>
                <c:pt idx="7">
                  <c:v>14</c:v>
                </c:pt>
                <c:pt idx="8">
                  <c:v>14</c:v>
                </c:pt>
                <c:pt idx="9">
                  <c:v>14</c:v>
                </c:pt>
                <c:pt idx="10">
                  <c:v>14</c:v>
                </c:pt>
                <c:pt idx="11">
                  <c:v>14</c:v>
                </c:pt>
                <c:pt idx="12">
                  <c:v>14</c:v>
                </c:pt>
                <c:pt idx="13">
                  <c:v>14</c:v>
                </c:pt>
                <c:pt idx="14">
                  <c:v>14</c:v>
                </c:pt>
                <c:pt idx="15">
                  <c:v>14</c:v>
                </c:pt>
                <c:pt idx="16">
                  <c:v>14</c:v>
                </c:pt>
                <c:pt idx="17">
                  <c:v>14</c:v>
                </c:pt>
                <c:pt idx="18">
                  <c:v>14</c:v>
                </c:pt>
                <c:pt idx="19">
                  <c:v>14</c:v>
                </c:pt>
                <c:pt idx="20">
                  <c:v>14</c:v>
                </c:pt>
                <c:pt idx="21">
                  <c:v>14</c:v>
                </c:pt>
                <c:pt idx="22">
                  <c:v>14</c:v>
                </c:pt>
                <c:pt idx="23">
                  <c:v>14</c:v>
                </c:pt>
                <c:pt idx="24">
                  <c:v>14</c:v>
                </c:pt>
                <c:pt idx="25">
                  <c:v>14</c:v>
                </c:pt>
                <c:pt idx="26">
                  <c:v>14</c:v>
                </c:pt>
                <c:pt idx="27">
                  <c:v>14</c:v>
                </c:pt>
                <c:pt idx="28">
                  <c:v>14</c:v>
                </c:pt>
                <c:pt idx="29">
                  <c:v>14</c:v>
                </c:pt>
                <c:pt idx="30">
                  <c:v>14</c:v>
                </c:pt>
                <c:pt idx="31">
                  <c:v>14</c:v>
                </c:pt>
                <c:pt idx="32">
                  <c:v>14</c:v>
                </c:pt>
                <c:pt idx="33">
                  <c:v>14</c:v>
                </c:pt>
                <c:pt idx="34">
                  <c:v>14</c:v>
                </c:pt>
                <c:pt idx="35">
                  <c:v>14</c:v>
                </c:pt>
                <c:pt idx="36">
                  <c:v>14</c:v>
                </c:pt>
                <c:pt idx="37">
                  <c:v>14</c:v>
                </c:pt>
                <c:pt idx="38">
                  <c:v>14</c:v>
                </c:pt>
                <c:pt idx="39">
                  <c:v>14</c:v>
                </c:pt>
                <c:pt idx="40">
                  <c:v>14</c:v>
                </c:pt>
                <c:pt idx="41">
                  <c:v>14</c:v>
                </c:pt>
                <c:pt idx="42">
                  <c:v>14</c:v>
                </c:pt>
                <c:pt idx="43">
                  <c:v>14</c:v>
                </c:pt>
                <c:pt idx="44">
                  <c:v>14</c:v>
                </c:pt>
                <c:pt idx="45">
                  <c:v>14</c:v>
                </c:pt>
                <c:pt idx="46">
                  <c:v>14</c:v>
                </c:pt>
                <c:pt idx="47">
                  <c:v>14</c:v>
                </c:pt>
                <c:pt idx="48">
                  <c:v>14</c:v>
                </c:pt>
                <c:pt idx="49">
                  <c:v>14</c:v>
                </c:pt>
                <c:pt idx="50">
                  <c:v>14</c:v>
                </c:pt>
                <c:pt idx="51">
                  <c:v>14</c:v>
                </c:pt>
                <c:pt idx="52">
                  <c:v>14</c:v>
                </c:pt>
                <c:pt idx="53">
                  <c:v>14</c:v>
                </c:pt>
                <c:pt idx="54">
                  <c:v>14</c:v>
                </c:pt>
                <c:pt idx="55">
                  <c:v>14</c:v>
                </c:pt>
                <c:pt idx="56">
                  <c:v>14</c:v>
                </c:pt>
                <c:pt idx="57">
                  <c:v>14</c:v>
                </c:pt>
                <c:pt idx="58">
                  <c:v>14</c:v>
                </c:pt>
                <c:pt idx="59">
                  <c:v>14</c:v>
                </c:pt>
                <c:pt idx="60">
                  <c:v>14</c:v>
                </c:pt>
                <c:pt idx="61">
                  <c:v>14</c:v>
                </c:pt>
                <c:pt idx="62">
                  <c:v>14</c:v>
                </c:pt>
                <c:pt idx="63">
                  <c:v>14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chemeClr val="accent4"/>
                </a:solidFill>
                <a:latin typeface="+mn-lt"/>
              </a:defRPr>
            </a:pPr>
            <a:endParaRPr lang="en-US"/>
          </a:p>
        </c:txPr>
        <c:crossAx val="2094734552"/>
        <c:crosses val="autoZero"/>
        <c:auto val="1"/>
        <c:lblAlgn val="ctr"/>
        <c:noMultiLvlLbl val="1"/>
        <c:tickLblSkip val="8"/>
      </c:catAx>
      <c:valAx>
        <c:axId val="2094734552"/>
        <c:scaling>
          <c:orientation val="minMax"/>
          <c:max val="20"/>
          <c:min val="0"/>
        </c:scaling>
        <c:delete val="0"/>
        <c:axPos val="l"/>
        <c:majorGridlines>
          <c:spPr>
            <a:ln w="6350" cap="flat">
              <a:solidFill>
                <a:srgbClr val="D9DEE5"/>
              </a:solidFill>
              <a:prstDash val="solid"/>
              <a:round/>
            </a:ln>
          </c:spPr>
        </c:majorGridlines>
        <c:title>
          <c:tx>
            <c:rich>
              <a:bodyPr/>
              <a:lstStyle/>
              <a:p>
                <a:pPr>
                  <a:defRPr sz="1100" b="0" i="0" u="none" strike="noStrike">
                    <a:solidFill>
                      <a:schemeClr val="accent4"/>
                    </a:solidFill>
                    <a:latin typeface="+mn-lt"/>
                  </a:defRPr>
                </a:pPr>
                <a:r>
                  <a:rPr sz="1100" b="0" i="0" u="none" strike="noStrike">
                    <a:solidFill>
                      <a:schemeClr val="accent4"/>
                    </a:solidFill>
                    <a:latin typeface="+mn-lt"/>
                  </a:rPr>
                  <a:t>Building demand (kW)</a:t>
                </a:r>
              </a:p>
            </c:rich>
          </c:tx>
          <c:layout/>
          <c:overlay val="0"/>
        </c:title>
        <c:numFmt formatCode="General" sourceLinked="0"/>
        <c:majorTickMark val="out"/>
        <c:minorTickMark val="none"/>
        <c:tickLblPos val="nextTo"/>
        <c:spPr>
          <a:ln w="12700" cap="flat">
            <a:noFill/>
            <a:prstDash val="solid"/>
            <a:round/>
          </a:ln>
        </c:spPr>
        <c:txPr>
          <a:bodyPr/>
          <a:lstStyle/>
          <a:p>
            <a:pPr>
              <a:defRPr sz="1100" b="0" i="0" u="none" strike="noStrike">
                <a:solidFill>
                  <a:schemeClr val="accent4"/>
                </a:solidFill>
                <a:latin typeface="+mn-lt"/>
              </a:defRPr>
            </a:pPr>
            <a:endParaRPr lang="en-US"/>
          </a:p>
        </c:txPr>
        <c:crossAx val="2094734554"/>
        <c:crosses val="autoZero"/>
        <c:crossBetween val="between"/>
        <c:majorUnit val="5"/>
      </c:valAx>
      <c:spPr>
        <a:noFill/>
        <a:ln>
          <a:noFill/>
        </a:ln>
        <a:effectLst/>
      </c:spPr>
    </c:plotArea>
    <c:legend>
      <c:legendPos val="t"/>
      <c:overlay val="0"/>
      <c:txPr>
        <a:bodyPr/>
        <a:lstStyle/>
        <a:p>
          <a:pPr>
            <a:defRPr sz="1200">
              <a:solidFill>
                <a:schemeClr val="tx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Uncoordinated</c:v>
                </c:pt>
              </c:strCache>
            </c:strRef>
          </c:tx>
          <c:spPr>
            <a:solidFill>
              <a:srgbClr val="D1495B"/>
            </a:solidFill>
            <a:effectLst/>
          </c:spPr>
          <c:invertIfNegative val="0"/>
          <c:dLbls>
            <c:numFmt formatCode="0.0" sourceLinked="0"/>
            <c:txPr>
              <a:bodyPr/>
              <a:lstStyle/>
              <a:p>
                <a:pPr>
                  <a:defRPr b="0" i="0" strike="noStrike" sz="1100" u="none">
                    <a:solidFill>
                      <a:schemeClr val="tx1"/>
                    </a:solidFill>
                    <a:latin typeface="+mn-lt"/>
                  </a:defRPr>
                </a:pPr>
              </a:p>
            </c:txPr>
            <c:showLegendKey val="0"/>
            <c:showVal val="1"/>
            <c:showCatName val="0"/>
            <c:showSerName val="0"/>
            <c:showPercent val="0"/>
            <c:showBubbleSize val="0"/>
            <c:showLeaderLines val="0"/>
          </c:dLbls>
          <c:cat>
            <c:multiLvlStrRef>
              <c:f>Sheet1!$A$2:$A$5</c:f>
              <c:multiLvlStrCache>
                <c:ptCount val="4"/>
                <c:lvl>
                  <c:pt idx="0">
                    <c:v>Hot evening (14 kW)</c:v>
                  </c:pt>
                  <c:pt idx="1">
                    <c:v>Tight limit (11 kW)</c:v>
                  </c:pt>
                  <c:pt idx="2">
                    <c:v>EV offline (14 kW)</c:v>
                  </c:pt>
                  <c:pt idx="3">
                    <c:v>Infeasible (8 kW)</c:v>
                  </c:pt>
                </c:lvl>
              </c:multiLvlStrCache>
            </c:multiLvlStrRef>
          </c:cat>
          <c:val>
            <c:numRef>
              <c:f>Sheet1!$B$2:$B$5</c:f>
              <c:numCache>
                <c:formatCode>General</c:formatCode>
                <c:ptCount val="4"/>
                <c:pt idx="0">
                  <c:v>19.03</c:v>
                </c:pt>
                <c:pt idx="1">
                  <c:v>19.03</c:v>
                </c:pt>
                <c:pt idx="2">
                  <c:v>19.03</c:v>
                </c:pt>
                <c:pt idx="3">
                  <c:v>19.09</c:v>
                </c:pt>
              </c:numCache>
            </c:numRef>
          </c:val>
        </c:ser>
        <c:ser>
          <c:idx val="1"/>
          <c:order val="1"/>
          <c:tx>
            <c:strRef>
              <c:f>Sheet1!$C$1</c:f>
              <c:strCache>
                <c:ptCount val="1"/>
                <c:pt idx="0">
                  <c:v>PeakPilot</c:v>
                </c:pt>
              </c:strCache>
            </c:strRef>
          </c:tx>
          <c:spPr>
            <a:solidFill>
              <a:srgbClr val="1F9E89"/>
            </a:solidFill>
            <a:effectLst/>
          </c:spPr>
          <c:invertIfNegative val="0"/>
          <c:dLbls>
            <c:numFmt formatCode="0.0" sourceLinked="0"/>
            <c:txPr>
              <a:bodyPr/>
              <a:lstStyle/>
              <a:p>
                <a:pPr>
                  <a:defRPr b="0" i="0" strike="noStrike" sz="1100" u="none">
                    <a:solidFill>
                      <a:schemeClr val="tx1"/>
                    </a:solidFill>
                    <a:latin typeface="+mn-lt"/>
                  </a:defRPr>
                </a:pPr>
              </a:p>
            </c:txPr>
            <c:showLegendKey val="0"/>
            <c:showVal val="1"/>
            <c:showCatName val="0"/>
            <c:showSerName val="0"/>
            <c:showPercent val="0"/>
            <c:showBubbleSize val="0"/>
            <c:showLeaderLines val="0"/>
          </c:dLbls>
          <c:cat>
            <c:multiLvlStrRef>
              <c:f>Sheet1!$A$2:$A$5</c:f>
              <c:multiLvlStrCache>
                <c:ptCount val="4"/>
                <c:lvl>
                  <c:pt idx="0">
                    <c:v>Hot evening (14 kW)</c:v>
                  </c:pt>
                  <c:pt idx="1">
                    <c:v>Tight limit (11 kW)</c:v>
                  </c:pt>
                  <c:pt idx="2">
                    <c:v>EV offline (14 kW)</c:v>
                  </c:pt>
                  <c:pt idx="3">
                    <c:v>Infeasible (8 kW)</c:v>
                  </c:pt>
                </c:lvl>
              </c:multiLvlStrCache>
            </c:multiLvlStrRef>
          </c:cat>
          <c:val>
            <c:numRef>
              <c:f>Sheet1!$C$2:$C$5</c:f>
              <c:numCache>
                <c:formatCode>General</c:formatCode>
                <c:ptCount val="4"/>
                <c:pt idx="0">
                  <c:v>14</c:v>
                </c:pt>
                <c:pt idx="1">
                  <c:v>11</c:v>
                </c:pt>
                <c:pt idx="2">
                  <c:v>14.29</c:v>
                </c:pt>
                <c:pt idx="3">
                  <c:v>14.91</c:v>
                </c:pt>
              </c:numCache>
            </c:numRef>
          </c:val>
        </c:ser>
        <c:ser>
          <c:idx val="2"/>
          <c:order val="2"/>
          <c:tx>
            <c:strRef>
              <c:f>Sheet1!$D$1</c:f>
              <c:strCache>
                <c:ptCount val="1"/>
                <c:pt idx="0">
                  <c:v>LP lower bound</c:v>
                </c:pt>
              </c:strCache>
            </c:strRef>
          </c:tx>
          <c:spPr>
            <a:solidFill>
              <a:srgbClr val="5C6B7A"/>
            </a:solidFill>
            <a:effectLst/>
          </c:spPr>
          <c:invertIfNegative val="0"/>
          <c:dLbls>
            <c:numFmt formatCode="0.0" sourceLinked="0"/>
            <c:txPr>
              <a:bodyPr/>
              <a:lstStyle/>
              <a:p>
                <a:pPr>
                  <a:defRPr b="0" i="0" strike="noStrike" sz="1100" u="none">
                    <a:solidFill>
                      <a:schemeClr val="tx1"/>
                    </a:solidFill>
                    <a:latin typeface="+mn-lt"/>
                  </a:defRPr>
                </a:pPr>
              </a:p>
            </c:txPr>
            <c:showLegendKey val="0"/>
            <c:showVal val="1"/>
            <c:showCatName val="0"/>
            <c:showSerName val="0"/>
            <c:showPercent val="0"/>
            <c:showBubbleSize val="0"/>
            <c:showLeaderLines val="0"/>
          </c:dLbls>
          <c:cat>
            <c:multiLvlStrRef>
              <c:f>Sheet1!$A$2:$A$5</c:f>
              <c:multiLvlStrCache>
                <c:ptCount val="4"/>
                <c:lvl>
                  <c:pt idx="0">
                    <c:v>Hot evening (14 kW)</c:v>
                  </c:pt>
                  <c:pt idx="1">
                    <c:v>Tight limit (11 kW)</c:v>
                  </c:pt>
                  <c:pt idx="2">
                    <c:v>EV offline (14 kW)</c:v>
                  </c:pt>
                  <c:pt idx="3">
                    <c:v>Infeasible (8 kW)</c:v>
                  </c:pt>
                </c:lvl>
              </c:multiLvlStrCache>
            </c:multiLvlStrRef>
          </c:cat>
          <c:val>
            <c:numRef>
              <c:f>Sheet1!$D$2:$D$5</c:f>
              <c:numCache>
                <c:formatCode>General</c:formatCode>
                <c:ptCount val="4"/>
                <c:pt idx="0">
                  <c:v>6.03</c:v>
                </c:pt>
                <c:pt idx="1">
                  <c:v>6.03</c:v>
                </c:pt>
                <c:pt idx="2">
                  <c:v>6.03</c:v>
                </c:pt>
                <c:pt idx="3">
                  <c:v>10.53</c:v>
                </c:pt>
              </c:numCache>
            </c:numRef>
          </c:val>
        </c:ser>
        <c:dLbls>
          <c:numFmt formatCode="0.0" sourceLinked="0"/>
          <c:txPr>
            <a:bodyPr/>
            <a:lstStyle/>
            <a:p>
              <a:pPr>
                <a:defRPr b="0" i="0" strike="noStrike" sz="1100" u="none">
                  <a:solidFill>
                    <a:schemeClr val="tx1"/>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chemeClr val="accent4"/>
                </a:solidFill>
                <a:latin typeface="+mn-lt"/>
              </a:defRPr>
            </a:pPr>
            <a:endParaRPr lang="en-US"/>
          </a:p>
        </c:txPr>
        <c:crossAx val="2094734552"/>
        <c:crosses val="autoZero"/>
        <c:auto val="1"/>
        <c:lblAlgn val="ctr"/>
        <c:noMultiLvlLbl val="1"/>
      </c:catAx>
      <c:valAx>
        <c:axId val="2094734552"/>
        <c:scaling>
          <c:orientation val="minMax"/>
          <c:max val="22"/>
          <c:min val="0"/>
        </c:scaling>
        <c:delete val="0"/>
        <c:axPos val="l"/>
        <c:majorGridlines>
          <c:spPr>
            <a:ln w="6350" cap="flat">
              <a:solidFill>
                <a:srgbClr val="D9DEE5"/>
              </a:solidFill>
              <a:prstDash val="solid"/>
              <a:round/>
            </a:ln>
          </c:spPr>
        </c:majorGridlines>
        <c:title>
          <c:tx>
            <c:rich>
              <a:bodyPr/>
              <a:lstStyle/>
              <a:p>
                <a:pPr>
                  <a:defRPr sz="1100" b="0" i="0" u="none" strike="noStrike">
                    <a:solidFill>
                      <a:schemeClr val="accent4"/>
                    </a:solidFill>
                    <a:latin typeface="+mn-lt"/>
                  </a:defRPr>
                </a:pPr>
                <a:r>
                  <a:rPr sz="1100" b="0" i="0" u="none" strike="noStrike">
                    <a:solidFill>
                      <a:schemeClr val="accent4"/>
                    </a:solidFill>
                    <a:latin typeface="+mn-lt"/>
                  </a:rPr>
                  <a:t>Peak demand (kW)</a:t>
                </a:r>
              </a:p>
            </c:rich>
          </c:tx>
          <c:layout/>
          <c:overlay val="0"/>
        </c:title>
        <c:numFmt formatCode="General" sourceLinked="0"/>
        <c:majorTickMark val="out"/>
        <c:minorTickMark val="none"/>
        <c:tickLblPos val="nextTo"/>
        <c:spPr>
          <a:ln w="12700" cap="flat">
            <a:noFill/>
            <a:prstDash val="solid"/>
            <a:round/>
          </a:ln>
        </c:spPr>
        <c:txPr>
          <a:bodyPr/>
          <a:lstStyle/>
          <a:p>
            <a:pPr>
              <a:defRPr sz="1100" b="0" i="0" u="none" strike="noStrike">
                <a:solidFill>
                  <a:schemeClr val="accent4"/>
                </a:solidFill>
                <a:latin typeface="+mn-lt"/>
              </a:defRPr>
            </a:pPr>
            <a:endParaRPr lang="en-US"/>
          </a:p>
        </c:txPr>
        <c:crossAx val="2094734554"/>
        <c:crosses val="autoZero"/>
        <c:crossBetween val="between"/>
        <c:majorUnit val="5"/>
      </c:valAx>
      <c:spPr>
        <a:noFill/>
        <a:ln>
          <a:noFill/>
        </a:ln>
        <a:effectLst/>
      </c:spPr>
    </c:plotArea>
    <c:legend>
      <c:legendPos val="t"/>
      <c:overlay val="0"/>
      <c:txPr>
        <a:bodyPr/>
        <a:lstStyle/>
        <a:p>
          <a:pPr>
            <a:defRPr sz="1200">
              <a:solidFill>
                <a:schemeClr val="tx1"/>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Clean power still has to show up at the peak. PeakPilot is an IoT energy coordinator that lowers a building's peak demand without cutting what gets done. Headline: on a simulated hot evening the building peaks at 19 kW uncoordinated; PeakPilot holds it at 14 kW and still meets every deadline.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peak is what matters for grid reliability. Uncoordinated, our simulated building hits 19 kW against a 14 kW limit, sits over the limit for three hours, and the room still overheats for 19 minutes. All device numbers are simulated.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simulated devices, each with a different constraint. The EV is continuously throttleable; the water heater and AC are on/off with minimum run times so relays don't cycle every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loop runs once per simulated minute. The explain step is what makes it trustworthy: every throttle, deferral and AC priority decision is written to a log in plain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one-minute step is a two-pass allocation. First commit everything that cannot be throttled this minute, then hand the remaining headroom to flexible tasks in order of slack. It is rules-based on purpose, so every decision can be explained and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evening, run twice. Red: everything runs at once and the building peaks at 19 kW, over the limit for three hours. Green: PeakPilot holds 14 kW, zero minutes over, every deadline met. The peak dropped because work moved into the night, not because anything was skipped. The coordinated run actually uses 1.2 kWh more AC energy, because it keeps the room under 25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built-in scenarios. The first two hold the limit outright. The offline and infeasible cases still break the limit, and the table says so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honesty cases. Offline: the controller cannot command the charger, so it reserves its last power and says so in the log. Infeasible: an 8 kW cap with a large early EV deadline. PeakPilot does not fake it; it reports the minutes over the limit. The LP benchmark on the next slide confirms no schedule could have stayed under 8 kW.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check the scheduler, the same scenario is written as one linear program and solved for the lowest peak any schedule could reach. It is deliberately framed as a lower bound: perfect foresight and relaxed on/off rules. Its most useful job is the infeasible case, where it proves the 8 kW limit was impossible. No cost or emissions claims follow from the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PeakPilot adds a local planning layer: pick a town, see its utility and listed landfill renewable projects. MassGIS describes local infrastructure; the simulation tests building-level coordination. We never infer generation from installed capacity.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engine is the single source of truth and imports only the Python standard library, so it is portable and deterministic. A Rust port targets a Raspberry Pi that would sit in the building; CI checks both engines give identical output on 130 cases. 180 pytest tests run with a 90% coverage gate. The newest addition is an optional simulated rooftop PV array whose inverter tracks its maximum power point, so the limit applies to net grid import.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PeakPilot makes the tradeoffs of a reliable clean grid visible, honestly. We are explicit about what is simulated and what we don't claim. Next: real devices through the same interface, and the Rust controller on actual Pi hardware. The code, the specs, steering and hooks are all in the public repo under .kiro.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PeakPilot was built spec-first in Kiro. Four Kiro specs cover the engine, the Rust port, the LP benchmark and the test framework, and their tasks trace to requirements. Four steering docs carry the honesty rules into every edit. Five hooks guard destructive commands, remind the agent to check library docs, enforce Mermaid layout, suggest diagrams where they help, and clean up merged worktrees. Through MCP, Kiro checked the live dashboard in a real browser and ran the GitHub issues and pull requests. Rust property tests found two real bugs. Most of the build ran in the Kiro IDE, including a multi-agent workflow that built the optimal benchmark end to end and merged PR #12. One Kiro CLI session reviewed the dashboard UI and led to PR #14. The Context7 Power checked current Streamlit APIs. Later specs were written with Claude Code in Kiro's format, and the repo says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benefits: building owners who need to add EV chargers and other flexible loads without blowing through their power limit; utilities, who get flexible load moved out of the evening peak and reported honestly; and Massachusetts towns, with 351 towns mapped to their utility. It is free, open source and runs offline. It scales by swapping simulated devices for real ones behind the same interface, with the Rust controller on a Raspberry Pi in each building. Today the simulation, CI and Pi image build work; real devices and a physical Pi are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_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P_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PeakPilot  ·  Hackachusetts 2026  ·  Energy &amp; Climate Tech (C3)</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sohampatwardhan/PeakPilot" TargetMode="External"/><Relationship Id="rId1" Type="http://schemas.openxmlformats.org/officeDocument/2006/relationships/image" Target="../media/image-12-1.png"/><Relationship Id="rId2" Type="http://schemas.openxmlformats.org/officeDocument/2006/relationships/image" Target="../media/image-12-2.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1" Type="http://schemas.openxmlformats.org/officeDocument/2006/relationships/image" Target="../media/image-13-1.png"/><Relationship Id="rId12" Type="http://schemas.openxmlformats.org/officeDocument/2006/relationships/image" Target="../media/image-13-2.png"/><Relationship Id="rId13" Type="http://schemas.openxmlformats.org/officeDocument/2006/relationships/image" Target="../media/image-13-3.png"/><Relationship Id="rId14" Type="http://schemas.openxmlformats.org/officeDocument/2006/relationships/image" Target="../media/image-13-4.png"/><Relationship Id="rId15" Type="http://schemas.openxmlformats.org/officeDocument/2006/relationships/image" Target="../media/image-13-5.png"/><Relationship Id="rId16" Type="http://schemas.openxmlformats.org/officeDocument/2006/relationships/image" Target="../media/image-13-6.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1" Type="http://schemas.openxmlformats.org/officeDocument/2006/relationships/image" Target="../media/image-14-1.png"/><Relationship Id="rId12" Type="http://schemas.openxmlformats.org/officeDocument/2006/relationships/image" Target="../media/image-14-2.png"/><Relationship Id="rId13" Type="http://schemas.openxmlformats.org/officeDocument/2006/relationships/image" Target="../media/image-14-3.png"/><Relationship Id="rId5" Type="http://schemas.openxmlformats.org/officeDocument/2006/relationships/slideLayout" Target="../slideLayouts/slideLayout3.xml"/><Relationship Id="rId6"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ightning bolt circle"/>
          <p:cNvSpPr/>
          <p:nvPr/>
        </p:nvSpPr>
        <p:spPr>
          <a:xfrm>
            <a:off x="548640" y="1051560"/>
            <a:ext cx="868680" cy="868680"/>
          </a:xfrm>
          <a:prstGeom prst="ellipse">
            <a:avLst/>
          </a:prstGeom>
          <a:solidFill>
            <a:schemeClr val="accent3"/>
          </a:solidFill>
          <a:ln w="12700">
            <a:solidFill>
              <a:schemeClr val="accent3"/>
            </a:solidFill>
            <a:prstDash val="solid"/>
          </a:ln>
        </p:spPr>
      </p:sp>
      <p:pic>
        <p:nvPicPr>
          <p:cNvPr id="3" name="Lightning bolt icon" descr="Lightning bolt">    </p:cNvPr>
          <p:cNvPicPr>
            <a:picLocks noChangeAspect="1"/>
          </p:cNvPicPr>
          <p:nvPr/>
        </p:nvPicPr>
        <p:blipFill>
          <a:blip r:embed="rId1"/>
          <a:stretch>
            <a:fillRect/>
          </a:stretch>
        </p:blipFill>
        <p:spPr>
          <a:xfrm>
            <a:off x="774497" y="1277417"/>
            <a:ext cx="416966" cy="416966"/>
          </a:xfrm>
          <a:prstGeom prst="rect">
            <a:avLst/>
          </a:prstGeom>
        </p:spPr>
      </p:pic>
      <p:sp>
        <p:nvSpPr>
          <p:cNvPr id="4" name="Deck title"/>
          <p:cNvSpPr txBox="1"/>
          <p:nvPr/>
        </p:nvSpPr>
        <p:spPr>
          <a:xfrm>
            <a:off x="548640" y="2148840"/>
            <a:ext cx="6766560" cy="1097280"/>
          </a:xfrm>
          <a:prstGeom prst="rect">
            <a:avLst/>
          </a:prstGeom>
          <a:noFill/>
          <a:ln/>
        </p:spPr>
        <p:txBody>
          <a:bodyPr wrap="square" lIns="0" tIns="0" rIns="0" bIns="0" rtlCol="0" anchor="t"/>
          <a:lstStyle/>
          <a:p>
            <a:pPr indent="0" marL="0">
              <a:buNone/>
            </a:pPr>
            <a:r>
              <a:rPr lang="en-US" sz="6400" b="1" dirty="0">
                <a:solidFill>
                  <a:schemeClr val="bg1"/>
                </a:solidFill>
                <a:latin typeface="Arial" pitchFamily="34" charset="0"/>
                <a:ea typeface="Arial" pitchFamily="34" charset="-122"/>
                <a:cs typeface="Arial" pitchFamily="34" charset="-120"/>
              </a:rPr>
              <a:t>PeakPilot</a:t>
            </a:r>
            <a:endParaRPr lang="en-US" sz="6400" dirty="0"/>
          </a:p>
        </p:txBody>
      </p:sp>
      <p:sp>
        <p:nvSpPr>
          <p:cNvPr id="5" name="Subtitle"/>
          <p:cNvSpPr txBox="1"/>
          <p:nvPr/>
        </p:nvSpPr>
        <p:spPr>
          <a:xfrm>
            <a:off x="548640" y="3291840"/>
            <a:ext cx="6583680" cy="914400"/>
          </a:xfrm>
          <a:prstGeom prst="rect">
            <a:avLst/>
          </a:prstGeom>
          <a:noFill/>
          <a:ln/>
        </p:spPr>
        <p:txBody>
          <a:bodyPr wrap="square" lIns="0" tIns="0" rIns="0" bIns="0" rtlCol="0" anchor="t"/>
          <a:lstStyle/>
          <a:p>
            <a:pPr indent="0" marL="0">
              <a:buNone/>
            </a:pPr>
            <a:r>
              <a:rPr lang="en-US" sz="2400" dirty="0">
                <a:solidFill>
                  <a:schemeClr val="accent5"/>
                </a:solidFill>
              </a:rPr>
              <a:t>Cut a building's peak demand — not the work it has to do</a:t>
            </a:r>
            <a:endParaRPr lang="en-US" sz="2400" dirty="0"/>
          </a:p>
        </p:txBody>
      </p:sp>
      <p:sp>
        <p:nvSpPr>
          <p:cNvPr id="6" name="Event and author"/>
          <p:cNvSpPr txBox="1"/>
          <p:nvPr/>
        </p:nvSpPr>
        <p:spPr>
          <a:xfrm>
            <a:off x="548640" y="4892040"/>
            <a:ext cx="6583680" cy="731520"/>
          </a:xfrm>
          <a:prstGeom prst="rect">
            <a:avLst/>
          </a:prstGeom>
          <a:noFill/>
          <a:ln/>
        </p:spPr>
        <p:txBody>
          <a:bodyPr wrap="square" lIns="0" tIns="0" rIns="0" bIns="0" rtlCol="0" anchor="t"/>
          <a:lstStyle/>
          <a:p>
            <a:pPr indent="0" marL="0">
              <a:spcAft>
                <a:spcPts val="400"/>
              </a:spcAft>
              <a:buNone/>
            </a:pPr>
            <a:r>
              <a:rPr lang="en-US" sz="1600" dirty="0">
                <a:solidFill>
                  <a:schemeClr val="accent5"/>
                </a:solidFill>
              </a:rPr>
              <a:t>Hackachusetts 2026  ·  Energy &amp; Climate Tech  ·  Challenge C3</a:t>
            </a:r>
            <a:endParaRPr lang="en-US" sz="1600" dirty="0"/>
          </a:p>
          <a:p>
            <a:pPr indent="0" marL="0">
              <a:spcAft>
                <a:spcPts val="400"/>
              </a:spcAft>
              <a:buNone/>
            </a:pPr>
            <a:r>
              <a:rPr lang="en-US" sz="1600" b="1" dirty="0">
                <a:solidFill>
                  <a:schemeClr val="bg1"/>
                </a:solidFill>
              </a:rPr>
              <a:t>Soham Patwardhan</a:t>
            </a:r>
            <a:endParaRPr lang="en-US" sz="1600" dirty="0"/>
          </a:p>
        </p:txBody>
      </p:sp>
      <p:sp>
        <p:nvSpPr>
          <p:cNvPr id="7" name="Result panel"/>
          <p:cNvSpPr/>
          <p:nvPr/>
        </p:nvSpPr>
        <p:spPr>
          <a:xfrm>
            <a:off x="7818120" y="1371600"/>
            <a:ext cx="3840480" cy="4114800"/>
          </a:xfrm>
          <a:prstGeom prst="roundRect">
            <a:avLst>
              <a:gd name="adj" fmla="val 3571"/>
            </a:avLst>
          </a:prstGeom>
          <a:solidFill>
            <a:schemeClr val="accent6"/>
          </a:solidFill>
          <a:ln w="12700">
            <a:solidFill>
              <a:schemeClr val="accent6"/>
            </a:solidFill>
            <a:prstDash val="solid"/>
          </a:ln>
        </p:spPr>
      </p:sp>
      <p:sp>
        <p:nvSpPr>
          <p:cNvPr id="8" name="Text 5"/>
          <p:cNvSpPr txBox="1"/>
          <p:nvPr/>
        </p:nvSpPr>
        <p:spPr>
          <a:xfrm>
            <a:off x="8138160" y="1645920"/>
            <a:ext cx="3200400" cy="365760"/>
          </a:xfrm>
          <a:prstGeom prst="rect">
            <a:avLst/>
          </a:prstGeom>
          <a:noFill/>
          <a:ln/>
        </p:spPr>
        <p:txBody>
          <a:bodyPr wrap="square" lIns="0" tIns="0" rIns="0" bIns="0" rtlCol="0" anchor="t"/>
          <a:lstStyle/>
          <a:p>
            <a:pPr indent="0" marL="0">
              <a:buNone/>
            </a:pPr>
            <a:r>
              <a:rPr lang="en-US" sz="1600" dirty="0">
                <a:solidFill>
                  <a:schemeClr val="accent5"/>
                </a:solidFill>
              </a:rPr>
              <a:t>Same hot evening, same work</a:t>
            </a:r>
            <a:endParaRPr lang="en-US" sz="1600" dirty="0"/>
          </a:p>
        </p:txBody>
      </p:sp>
      <p:sp>
        <p:nvSpPr>
          <p:cNvPr id="9" name="Text 6"/>
          <p:cNvSpPr txBox="1"/>
          <p:nvPr/>
        </p:nvSpPr>
        <p:spPr>
          <a:xfrm>
            <a:off x="8138160" y="2103120"/>
            <a:ext cx="3200400" cy="868680"/>
          </a:xfrm>
          <a:prstGeom prst="rect">
            <a:avLst/>
          </a:prstGeom>
          <a:noFill/>
          <a:ln/>
        </p:spPr>
        <p:txBody>
          <a:bodyPr wrap="square" lIns="0" tIns="0" rIns="0" bIns="0" rtlCol="0" anchor="t"/>
          <a:lstStyle/>
          <a:p>
            <a:pPr indent="0" marL="0">
              <a:buNone/>
            </a:pPr>
            <a:r>
              <a:rPr lang="en-US" sz="5400" b="1" dirty="0">
                <a:solidFill>
                  <a:schemeClr val="accent2"/>
                </a:solidFill>
              </a:rPr>
              <a:t>19.0</a:t>
            </a:r>
            <a:pPr indent="0" marL="0">
              <a:buNone/>
            </a:pPr>
            <a:r>
              <a:rPr lang="en-US" sz="2400" dirty="0">
                <a:solidFill>
                  <a:schemeClr val="accent2"/>
                </a:solidFill>
              </a:rPr>
              <a:t> kW</a:t>
            </a:r>
            <a:endParaRPr lang="en-US" sz="1600" dirty="0"/>
          </a:p>
        </p:txBody>
      </p:sp>
      <p:sp>
        <p:nvSpPr>
          <p:cNvPr id="10" name="Text 7"/>
          <p:cNvSpPr txBox="1"/>
          <p:nvPr/>
        </p:nvSpPr>
        <p:spPr>
          <a:xfrm>
            <a:off x="8138160" y="2926080"/>
            <a:ext cx="3200400" cy="320040"/>
          </a:xfrm>
          <a:prstGeom prst="rect">
            <a:avLst/>
          </a:prstGeom>
          <a:noFill/>
          <a:ln/>
        </p:spPr>
        <p:txBody>
          <a:bodyPr wrap="square" lIns="0" tIns="0" rIns="0" bIns="0" rtlCol="0" anchor="t"/>
          <a:lstStyle/>
          <a:p>
            <a:pPr indent="0" marL="0">
              <a:buNone/>
            </a:pPr>
            <a:r>
              <a:rPr lang="en-US" sz="1400" dirty="0">
                <a:solidFill>
                  <a:schemeClr val="bg2"/>
                </a:solidFill>
              </a:rPr>
              <a:t>uncoordinated peak</a:t>
            </a:r>
            <a:endParaRPr lang="en-US" sz="1400" dirty="0"/>
          </a:p>
        </p:txBody>
      </p:sp>
      <p:sp>
        <p:nvSpPr>
          <p:cNvPr id="11" name="Text 8"/>
          <p:cNvSpPr txBox="1"/>
          <p:nvPr/>
        </p:nvSpPr>
        <p:spPr>
          <a:xfrm>
            <a:off x="8138160" y="3520440"/>
            <a:ext cx="3200400" cy="868680"/>
          </a:xfrm>
          <a:prstGeom prst="rect">
            <a:avLst/>
          </a:prstGeom>
          <a:noFill/>
          <a:ln/>
        </p:spPr>
        <p:txBody>
          <a:bodyPr wrap="square" lIns="0" tIns="0" rIns="0" bIns="0" rtlCol="0" anchor="t"/>
          <a:lstStyle/>
          <a:p>
            <a:pPr indent="0" marL="0">
              <a:buNone/>
            </a:pPr>
            <a:r>
              <a:rPr lang="en-US" sz="5400" b="1" dirty="0">
                <a:solidFill>
                  <a:schemeClr val="accent1"/>
                </a:solidFill>
              </a:rPr>
              <a:t>14.0</a:t>
            </a:r>
            <a:pPr indent="0" marL="0">
              <a:buNone/>
            </a:pPr>
            <a:r>
              <a:rPr lang="en-US" sz="2400" dirty="0">
                <a:solidFill>
                  <a:schemeClr val="accent1"/>
                </a:solidFill>
              </a:rPr>
              <a:t> kW</a:t>
            </a:r>
            <a:endParaRPr lang="en-US" sz="1600" dirty="0"/>
          </a:p>
        </p:txBody>
      </p:sp>
      <p:sp>
        <p:nvSpPr>
          <p:cNvPr id="12" name="Text 9"/>
          <p:cNvSpPr txBox="1"/>
          <p:nvPr/>
        </p:nvSpPr>
        <p:spPr>
          <a:xfrm>
            <a:off x="8138160" y="4343400"/>
            <a:ext cx="3200400" cy="320040"/>
          </a:xfrm>
          <a:prstGeom prst="rect">
            <a:avLst/>
          </a:prstGeom>
          <a:noFill/>
          <a:ln/>
        </p:spPr>
        <p:txBody>
          <a:bodyPr wrap="square" lIns="0" tIns="0" rIns="0" bIns="0" rtlCol="0" anchor="t"/>
          <a:lstStyle/>
          <a:p>
            <a:pPr indent="0" marL="0">
              <a:buNone/>
            </a:pPr>
            <a:r>
              <a:rPr lang="en-US" sz="1400" dirty="0">
                <a:solidFill>
                  <a:schemeClr val="bg2"/>
                </a:solidFill>
              </a:rPr>
              <a:t>with PeakPilot — every deadline met</a:t>
            </a:r>
            <a:endParaRPr lang="en-US" sz="1400" dirty="0"/>
          </a:p>
        </p:txBody>
      </p:sp>
      <p:sp>
        <p:nvSpPr>
          <p:cNvPr id="13" name="Simulated label"/>
          <p:cNvSpPr txBox="1"/>
          <p:nvPr/>
        </p:nvSpPr>
        <p:spPr>
          <a:xfrm>
            <a:off x="8138160" y="4892040"/>
            <a:ext cx="1143000" cy="274320"/>
          </a:xfrm>
          <a:prstGeom prst="rect">
            <a:avLst/>
          </a:prstGeom>
          <a:solidFill>
            <a:schemeClr val="accent3"/>
          </a:solidFill>
          <a:ln/>
        </p:spPr>
        <p:txBody>
          <a:bodyPr wrap="square" lIns="0" tIns="0" rIns="0" bIns="0" rtlCol="0" anchor="ctr"/>
          <a:lstStyle/>
          <a:p>
            <a:pPr algn="ctr" indent="0" marL="0">
              <a:buNone/>
            </a:pPr>
            <a:r>
              <a:rPr lang="en-US" sz="1000" b="1" spc="100" kern="0" dirty="0">
                <a:solidFill>
                  <a:schemeClr val="tx2"/>
                </a:solidFill>
              </a:rPr>
              <a:t>SIMULATED</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The peak, not total energy, is what strains the grid</a:t>
            </a:r>
            <a:endParaRPr lang="en-US" sz="3200" dirty="0"/>
          </a:p>
        </p:txBody>
      </p:sp>
      <p:sp>
        <p:nvSpPr>
          <p:cNvPr id="3" name="Problem bullets"/>
          <p:cNvSpPr txBox="1"/>
          <p:nvPr/>
        </p:nvSpPr>
        <p:spPr>
          <a:xfrm>
            <a:off x="548640" y="1417320"/>
            <a:ext cx="5486400" cy="292608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chemeClr val="tx1"/>
                </a:solidFill>
              </a:rPr>
              <a:t>On a hot evening an EV charger, a water heater and an air conditioner all switch on together</a:t>
            </a:r>
            <a:endParaRPr lang="en-US" sz="1800" dirty="0"/>
          </a:p>
          <a:p>
            <a:pPr marL="342900" indent="-342900">
              <a:spcAft>
                <a:spcPts val="1400"/>
              </a:spcAft>
              <a:buSzPct val="100000"/>
              <a:buChar char="•"/>
            </a:pPr>
            <a:r>
              <a:rPr lang="en-US" sz="1800" dirty="0">
                <a:solidFill>
                  <a:schemeClr val="tx1"/>
                </a:solidFill>
              </a:rPr>
              <a:t>That simultaneous spike is what strains the grid and drives demand charges</a:t>
            </a:r>
            <a:endParaRPr lang="en-US" sz="1800" dirty="0"/>
          </a:p>
          <a:p>
            <a:pPr marL="342900" indent="-342900">
              <a:spcAft>
                <a:spcPts val="1400"/>
              </a:spcAft>
              <a:buSzPct val="100000"/>
              <a:buChar char="•"/>
            </a:pPr>
            <a:r>
              <a:rPr lang="en-US" sz="1800" dirty="0">
                <a:solidFill>
                  <a:schemeClr val="tx1"/>
                </a:solidFill>
              </a:rPr>
              <a:t>Some of those loads could wait — but each still has a job to finish by a deadline</a:t>
            </a:r>
            <a:endParaRPr lang="en-US" sz="1800" dirty="0"/>
          </a:p>
        </p:txBody>
      </p:sp>
      <p:sp>
        <p:nvSpPr>
          <p:cNvPr id="4" name="Challenge card"/>
          <p:cNvSpPr/>
          <p:nvPr/>
        </p:nvSpPr>
        <p:spPr>
          <a:xfrm>
            <a:off x="548640" y="4572000"/>
            <a:ext cx="5486400" cy="1417320"/>
          </a:xfrm>
          <a:prstGeom prst="roundRect">
            <a:avLst>
              <a:gd name="adj" fmla="val 7742"/>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822960" y="4754880"/>
            <a:ext cx="4937760" cy="1051560"/>
          </a:xfrm>
          <a:prstGeom prst="rect">
            <a:avLst/>
          </a:prstGeom>
          <a:noFill/>
          <a:ln/>
        </p:spPr>
        <p:txBody>
          <a:bodyPr wrap="square" lIns="0" tIns="0" rIns="0" bIns="0" rtlCol="0" anchor="ctr"/>
          <a:lstStyle/>
          <a:p>
            <a:pPr indent="0" marL="0">
              <a:buNone/>
            </a:pPr>
            <a:r>
              <a:rPr lang="en-US" sz="1600" b="1" dirty="0">
                <a:solidFill>
                  <a:schemeClr val="tx1"/>
                </a:solidFill>
              </a:rPr>
              <a:t>Hackachusetts C3: </a:t>
            </a:r>
            <a:pPr indent="0" marL="0">
              <a:buNone/>
            </a:pPr>
            <a:r>
              <a:rPr lang="en-US" sz="1600" i="1" dirty="0">
                <a:solidFill>
                  <a:schemeClr val="tx1"/>
                </a:solidFill>
              </a:rPr>
              <a:t>a more reliable clean energy system — clean power still has to show up at the peak.</a:t>
            </a:r>
            <a:endParaRPr lang="en-US" sz="1600" dirty="0"/>
          </a:p>
        </p:txBody>
      </p:sp>
      <p:sp>
        <p:nvSpPr>
          <p:cNvPr id="6" name="Text 4"/>
          <p:cNvSpPr txBox="1"/>
          <p:nvPr/>
        </p:nvSpPr>
        <p:spPr>
          <a:xfrm>
            <a:off x="6629400" y="1417320"/>
            <a:ext cx="4937760" cy="777240"/>
          </a:xfrm>
          <a:prstGeom prst="rect">
            <a:avLst/>
          </a:prstGeom>
          <a:noFill/>
          <a:ln/>
        </p:spPr>
        <p:txBody>
          <a:bodyPr wrap="square" lIns="0" tIns="0" rIns="0" bIns="0" rtlCol="0" anchor="t"/>
          <a:lstStyle/>
          <a:p>
            <a:pPr indent="0" marL="0">
              <a:buNone/>
            </a:pPr>
            <a:r>
              <a:rPr lang="en-US" sz="4800" b="1" dirty="0">
                <a:solidFill>
                  <a:schemeClr val="accent2"/>
                </a:solidFill>
                <a:latin typeface="Arial" pitchFamily="34" charset="0"/>
                <a:ea typeface="Arial" pitchFamily="34" charset="-122"/>
                <a:cs typeface="Arial" pitchFamily="34" charset="-120"/>
              </a:rPr>
              <a:t>19.0 kW</a:t>
            </a:r>
            <a:endParaRPr lang="en-US" sz="4800" dirty="0"/>
          </a:p>
        </p:txBody>
      </p:sp>
      <p:sp>
        <p:nvSpPr>
          <p:cNvPr id="7" name="Text 5"/>
          <p:cNvSpPr txBox="1"/>
          <p:nvPr/>
        </p:nvSpPr>
        <p:spPr>
          <a:xfrm>
            <a:off x="6629400" y="2194560"/>
            <a:ext cx="4937760" cy="548640"/>
          </a:xfrm>
          <a:prstGeom prst="rect">
            <a:avLst/>
          </a:prstGeom>
          <a:noFill/>
          <a:ln/>
        </p:spPr>
        <p:txBody>
          <a:bodyPr wrap="square" lIns="0" tIns="0" rIns="0" bIns="0" rtlCol="0" anchor="t"/>
          <a:lstStyle/>
          <a:p>
            <a:pPr indent="0" marL="0">
              <a:buNone/>
            </a:pPr>
            <a:r>
              <a:rPr lang="en-US" sz="1500" dirty="0">
                <a:solidFill>
                  <a:schemeClr val="accent4"/>
                </a:solidFill>
              </a:rPr>
              <a:t>peak demand with no coordination, against a 14 kW building limit</a:t>
            </a:r>
            <a:endParaRPr lang="en-US" sz="1500" dirty="0"/>
          </a:p>
        </p:txBody>
      </p:sp>
      <p:sp>
        <p:nvSpPr>
          <p:cNvPr id="8" name="Text 6"/>
          <p:cNvSpPr txBox="1"/>
          <p:nvPr/>
        </p:nvSpPr>
        <p:spPr>
          <a:xfrm>
            <a:off x="6629400" y="2926080"/>
            <a:ext cx="4937760" cy="777240"/>
          </a:xfrm>
          <a:prstGeom prst="rect">
            <a:avLst/>
          </a:prstGeom>
          <a:noFill/>
          <a:ln/>
        </p:spPr>
        <p:txBody>
          <a:bodyPr wrap="square" lIns="0" tIns="0" rIns="0" bIns="0" rtlCol="0" anchor="t"/>
          <a:lstStyle/>
          <a:p>
            <a:pPr indent="0" marL="0">
              <a:buNone/>
            </a:pPr>
            <a:r>
              <a:rPr lang="en-US" sz="4800" b="1" dirty="0">
                <a:solidFill>
                  <a:schemeClr val="accent2"/>
                </a:solidFill>
                <a:latin typeface="Arial" pitchFamily="34" charset="0"/>
                <a:ea typeface="Arial" pitchFamily="34" charset="-122"/>
                <a:cs typeface="Arial" pitchFamily="34" charset="-120"/>
              </a:rPr>
              <a:t>180 min</a:t>
            </a:r>
            <a:endParaRPr lang="en-US" sz="4800" dirty="0"/>
          </a:p>
        </p:txBody>
      </p:sp>
      <p:sp>
        <p:nvSpPr>
          <p:cNvPr id="9" name="Text 7"/>
          <p:cNvSpPr txBox="1"/>
          <p:nvPr/>
        </p:nvSpPr>
        <p:spPr>
          <a:xfrm>
            <a:off x="6629400" y="3703320"/>
            <a:ext cx="4937760" cy="548640"/>
          </a:xfrm>
          <a:prstGeom prst="rect">
            <a:avLst/>
          </a:prstGeom>
          <a:noFill/>
          <a:ln/>
        </p:spPr>
        <p:txBody>
          <a:bodyPr wrap="square" lIns="0" tIns="0" rIns="0" bIns="0" rtlCol="0" anchor="t"/>
          <a:lstStyle/>
          <a:p>
            <a:pPr indent="0" marL="0">
              <a:buNone/>
            </a:pPr>
            <a:r>
              <a:rPr lang="en-US" sz="1500" dirty="0">
                <a:solidFill>
                  <a:schemeClr val="accent4"/>
                </a:solidFill>
              </a:rPr>
              <a:t>spent over the power limit</a:t>
            </a:r>
            <a:endParaRPr lang="en-US" sz="1500" dirty="0"/>
          </a:p>
        </p:txBody>
      </p:sp>
      <p:sp>
        <p:nvSpPr>
          <p:cNvPr id="10" name="Text 8"/>
          <p:cNvSpPr txBox="1"/>
          <p:nvPr/>
        </p:nvSpPr>
        <p:spPr>
          <a:xfrm>
            <a:off x="6629400" y="4434840"/>
            <a:ext cx="4937760" cy="777240"/>
          </a:xfrm>
          <a:prstGeom prst="rect">
            <a:avLst/>
          </a:prstGeom>
          <a:noFill/>
          <a:ln/>
        </p:spPr>
        <p:txBody>
          <a:bodyPr wrap="square" lIns="0" tIns="0" rIns="0" bIns="0" rtlCol="0" anchor="t"/>
          <a:lstStyle/>
          <a:p>
            <a:pPr indent="0" marL="0">
              <a:buNone/>
            </a:pPr>
            <a:r>
              <a:rPr lang="en-US" sz="4800" b="1" dirty="0">
                <a:solidFill>
                  <a:schemeClr val="accent2"/>
                </a:solidFill>
                <a:latin typeface="Arial" pitchFamily="34" charset="0"/>
                <a:ea typeface="Arial" pitchFamily="34" charset="-122"/>
                <a:cs typeface="Arial" pitchFamily="34" charset="-120"/>
              </a:rPr>
              <a:t>19 min</a:t>
            </a:r>
            <a:endParaRPr lang="en-US" sz="4800" dirty="0"/>
          </a:p>
        </p:txBody>
      </p:sp>
      <p:sp>
        <p:nvSpPr>
          <p:cNvPr id="11" name="Text 9"/>
          <p:cNvSpPr txBox="1"/>
          <p:nvPr/>
        </p:nvSpPr>
        <p:spPr>
          <a:xfrm>
            <a:off x="6629400" y="5212080"/>
            <a:ext cx="4937760" cy="548640"/>
          </a:xfrm>
          <a:prstGeom prst="rect">
            <a:avLst/>
          </a:prstGeom>
          <a:noFill/>
          <a:ln/>
        </p:spPr>
        <p:txBody>
          <a:bodyPr wrap="square" lIns="0" tIns="0" rIns="0" bIns="0" rtlCol="0" anchor="t"/>
          <a:lstStyle/>
          <a:p>
            <a:pPr indent="0" marL="0">
              <a:buNone/>
            </a:pPr>
            <a:r>
              <a:rPr lang="en-US" sz="1500" dirty="0">
                <a:solidFill>
                  <a:schemeClr val="accent4"/>
                </a:solidFill>
              </a:rPr>
              <a:t>with the room above the 25 °C comfort limit</a:t>
            </a:r>
            <a:endParaRPr lang="en-US" sz="1500" dirty="0"/>
          </a:p>
        </p:txBody>
      </p:sp>
      <p:sp>
        <p:nvSpPr>
          <p:cNvPr id="12" name="Simulated label"/>
          <p:cNvSpPr txBox="1"/>
          <p:nvPr/>
        </p:nvSpPr>
        <p:spPr>
          <a:xfrm>
            <a:off x="10500055" y="5989320"/>
            <a:ext cx="1143000" cy="274320"/>
          </a:xfrm>
          <a:prstGeom prst="rect">
            <a:avLst/>
          </a:prstGeom>
          <a:solidFill>
            <a:schemeClr val="accent3"/>
          </a:solidFill>
          <a:ln/>
        </p:spPr>
        <p:txBody>
          <a:bodyPr wrap="square" lIns="0" tIns="0" rIns="0" bIns="0" rtlCol="0" anchor="ctr"/>
          <a:lstStyle/>
          <a:p>
            <a:pPr algn="ctr" indent="0" marL="0">
              <a:buNone/>
            </a:pPr>
            <a:r>
              <a:rPr lang="en-US" sz="1000" b="1" spc="100" kern="0" dirty="0">
                <a:solidFill>
                  <a:schemeClr val="bg1"/>
                </a:solidFill>
              </a:rPr>
              <a:t>SIMULATED</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Which load can wait, for how long — and still finish?</a:t>
            </a:r>
            <a:endParaRPr lang="en-US" sz="3200" dirty="0"/>
          </a:p>
        </p:txBody>
      </p:sp>
      <p:sp>
        <p:nvSpPr>
          <p:cNvPr id="3" name="EV charger card"/>
          <p:cNvSpPr/>
          <p:nvPr/>
        </p:nvSpPr>
        <p:spPr>
          <a:xfrm>
            <a:off x="548640" y="1463040"/>
            <a:ext cx="3454298" cy="3840480"/>
          </a:xfrm>
          <a:prstGeom prst="roundRect">
            <a:avLst>
              <a:gd name="adj" fmla="val 317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EV charger circle"/>
          <p:cNvSpPr/>
          <p:nvPr/>
        </p:nvSpPr>
        <p:spPr>
          <a:xfrm>
            <a:off x="914400" y="1828800"/>
            <a:ext cx="868680" cy="868680"/>
          </a:xfrm>
          <a:prstGeom prst="ellipse">
            <a:avLst/>
          </a:prstGeom>
          <a:solidFill>
            <a:schemeClr val="accent1"/>
          </a:solidFill>
          <a:ln w="12700">
            <a:solidFill>
              <a:schemeClr val="accent1"/>
            </a:solidFill>
            <a:prstDash val="solid"/>
          </a:ln>
        </p:spPr>
      </p:sp>
      <p:pic>
        <p:nvPicPr>
          <p:cNvPr id="5" name="EV charger icon" descr="EV charger">    </p:cNvPr>
          <p:cNvPicPr>
            <a:picLocks noChangeAspect="1"/>
          </p:cNvPicPr>
          <p:nvPr/>
        </p:nvPicPr>
        <p:blipFill>
          <a:blip r:embed="rId1"/>
          <a:stretch>
            <a:fillRect/>
          </a:stretch>
        </p:blipFill>
        <p:spPr>
          <a:xfrm>
            <a:off x="1140257" y="2054657"/>
            <a:ext cx="416966" cy="416966"/>
          </a:xfrm>
          <a:prstGeom prst="rect">
            <a:avLst/>
          </a:prstGeom>
        </p:spPr>
      </p:pic>
      <p:sp>
        <p:nvSpPr>
          <p:cNvPr id="6" name="Text 3"/>
          <p:cNvSpPr txBox="1"/>
          <p:nvPr/>
        </p:nvSpPr>
        <p:spPr>
          <a:xfrm>
            <a:off x="914400" y="2880360"/>
            <a:ext cx="2722778" cy="457200"/>
          </a:xfrm>
          <a:prstGeom prst="rect">
            <a:avLst/>
          </a:prstGeom>
          <a:noFill/>
          <a:ln/>
        </p:spPr>
        <p:txBody>
          <a:bodyPr wrap="square" lIns="0" tIns="0" rIns="0" bIns="0" rtlCol="0" anchor="t"/>
          <a:lstStyle/>
          <a:p>
            <a:pPr indent="0" marL="0">
              <a:buNone/>
            </a:pPr>
            <a:r>
              <a:rPr lang="en-US" sz="2200" b="1" dirty="0">
                <a:solidFill>
                  <a:schemeClr val="tx2"/>
                </a:solidFill>
              </a:rPr>
              <a:t>EV charger</a:t>
            </a:r>
            <a:endParaRPr lang="en-US" sz="2200" dirty="0"/>
          </a:p>
        </p:txBody>
      </p:sp>
      <p:sp>
        <p:nvSpPr>
          <p:cNvPr id="7" name="Text 4"/>
          <p:cNvSpPr txBox="1"/>
          <p:nvPr/>
        </p:nvSpPr>
        <p:spPr>
          <a:xfrm>
            <a:off x="914400" y="3474720"/>
            <a:ext cx="2722778" cy="16459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7.2 kW max</a:t>
            </a:r>
            <a:endParaRPr lang="en-US" sz="1600" dirty="0"/>
          </a:p>
          <a:p>
            <a:pPr marL="342900" indent="-342900">
              <a:spcAft>
                <a:spcPts val="800"/>
              </a:spcAft>
              <a:buSzPct val="100000"/>
              <a:buChar char="•"/>
            </a:pPr>
            <a:r>
              <a:rPr lang="en-US" sz="1600" dirty="0">
                <a:solidFill>
                  <a:schemeClr val="tx1"/>
                </a:solidFill>
              </a:rPr>
              <a:t>Deliver 30 kWh by 07:00</a:t>
            </a:r>
            <a:endParaRPr lang="en-US" sz="1600" dirty="0"/>
          </a:p>
          <a:p>
            <a:pPr marL="342900" indent="-342900">
              <a:spcAft>
                <a:spcPts val="800"/>
              </a:spcAft>
              <a:buSzPct val="100000"/>
              <a:buChar char="•"/>
            </a:pPr>
            <a:r>
              <a:rPr lang="en-US" sz="1600" dirty="0">
                <a:solidFill>
                  <a:schemeClr val="tx1"/>
                </a:solidFill>
              </a:rPr>
              <a:t>Throttle or pause any minute</a:t>
            </a:r>
            <a:endParaRPr lang="en-US" sz="1600" dirty="0"/>
          </a:p>
        </p:txBody>
      </p:sp>
      <p:sp>
        <p:nvSpPr>
          <p:cNvPr id="8" name="Water heater card"/>
          <p:cNvSpPr/>
          <p:nvPr/>
        </p:nvSpPr>
        <p:spPr>
          <a:xfrm>
            <a:off x="4368698" y="1463040"/>
            <a:ext cx="3454298" cy="3840480"/>
          </a:xfrm>
          <a:prstGeom prst="roundRect">
            <a:avLst>
              <a:gd name="adj" fmla="val 317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Water heater circle"/>
          <p:cNvSpPr/>
          <p:nvPr/>
        </p:nvSpPr>
        <p:spPr>
          <a:xfrm>
            <a:off x="4734458" y="1828800"/>
            <a:ext cx="868680" cy="868680"/>
          </a:xfrm>
          <a:prstGeom prst="ellipse">
            <a:avLst/>
          </a:prstGeom>
          <a:solidFill>
            <a:schemeClr val="accent3"/>
          </a:solidFill>
          <a:ln w="12700">
            <a:solidFill>
              <a:schemeClr val="accent3"/>
            </a:solidFill>
            <a:prstDash val="solid"/>
          </a:ln>
        </p:spPr>
      </p:sp>
      <p:pic>
        <p:nvPicPr>
          <p:cNvPr id="10" name="Water heater icon" descr="Water heater">    </p:cNvPr>
          <p:cNvPicPr>
            <a:picLocks noChangeAspect="1"/>
          </p:cNvPicPr>
          <p:nvPr/>
        </p:nvPicPr>
        <p:blipFill>
          <a:blip r:embed="rId2"/>
          <a:stretch>
            <a:fillRect/>
          </a:stretch>
        </p:blipFill>
        <p:spPr>
          <a:xfrm>
            <a:off x="4960315" y="2054657"/>
            <a:ext cx="416966" cy="416966"/>
          </a:xfrm>
          <a:prstGeom prst="rect">
            <a:avLst/>
          </a:prstGeom>
        </p:spPr>
      </p:pic>
      <p:sp>
        <p:nvSpPr>
          <p:cNvPr id="11" name="Text 7"/>
          <p:cNvSpPr txBox="1"/>
          <p:nvPr/>
        </p:nvSpPr>
        <p:spPr>
          <a:xfrm>
            <a:off x="4734458" y="2880360"/>
            <a:ext cx="2722778" cy="457200"/>
          </a:xfrm>
          <a:prstGeom prst="rect">
            <a:avLst/>
          </a:prstGeom>
          <a:noFill/>
          <a:ln/>
        </p:spPr>
        <p:txBody>
          <a:bodyPr wrap="square" lIns="0" tIns="0" rIns="0" bIns="0" rtlCol="0" anchor="t"/>
          <a:lstStyle/>
          <a:p>
            <a:pPr indent="0" marL="0">
              <a:buNone/>
            </a:pPr>
            <a:r>
              <a:rPr lang="en-US" sz="2200" b="1" dirty="0">
                <a:solidFill>
                  <a:schemeClr val="tx2"/>
                </a:solidFill>
              </a:rPr>
              <a:t>Water heater</a:t>
            </a:r>
            <a:endParaRPr lang="en-US" sz="2200" dirty="0"/>
          </a:p>
        </p:txBody>
      </p:sp>
      <p:sp>
        <p:nvSpPr>
          <p:cNvPr id="12" name="Text 8"/>
          <p:cNvSpPr txBox="1"/>
          <p:nvPr/>
        </p:nvSpPr>
        <p:spPr>
          <a:xfrm>
            <a:off x="4734458" y="3474720"/>
            <a:ext cx="2722778" cy="16459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4.5 kW max</a:t>
            </a:r>
            <a:endParaRPr lang="en-US" sz="1600" dirty="0"/>
          </a:p>
          <a:p>
            <a:pPr marL="342900" indent="-342900">
              <a:spcAft>
                <a:spcPts val="800"/>
              </a:spcAft>
              <a:buSzPct val="100000"/>
              <a:buChar char="•"/>
            </a:pPr>
            <a:r>
              <a:rPr lang="en-US" sz="1600" dirty="0">
                <a:solidFill>
                  <a:schemeClr val="tx1"/>
                </a:solidFill>
              </a:rPr>
              <a:t>Deliver 9 kWh by 06:30</a:t>
            </a:r>
            <a:endParaRPr lang="en-US" sz="1600" dirty="0"/>
          </a:p>
          <a:p>
            <a:pPr marL="342900" indent="-342900">
              <a:spcAft>
                <a:spcPts val="800"/>
              </a:spcAft>
              <a:buSzPct val="100000"/>
              <a:buChar char="•"/>
            </a:pPr>
            <a:r>
              <a:rPr lang="en-US" sz="1600" dirty="0">
                <a:solidFill>
                  <a:schemeClr val="tx1"/>
                </a:solidFill>
              </a:rPr>
              <a:t>On/off, 15-min minimum run</a:t>
            </a:r>
            <a:endParaRPr lang="en-US" sz="1600" dirty="0"/>
          </a:p>
        </p:txBody>
      </p:sp>
      <p:sp>
        <p:nvSpPr>
          <p:cNvPr id="13" name="Air conditioner card"/>
          <p:cNvSpPr/>
          <p:nvPr/>
        </p:nvSpPr>
        <p:spPr>
          <a:xfrm>
            <a:off x="8188757" y="1463040"/>
            <a:ext cx="3454298" cy="3840480"/>
          </a:xfrm>
          <a:prstGeom prst="roundRect">
            <a:avLst>
              <a:gd name="adj" fmla="val 317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4" name="Air conditioner circle"/>
          <p:cNvSpPr/>
          <p:nvPr/>
        </p:nvSpPr>
        <p:spPr>
          <a:xfrm>
            <a:off x="8554517" y="1828800"/>
            <a:ext cx="868680" cy="868680"/>
          </a:xfrm>
          <a:prstGeom prst="ellipse">
            <a:avLst/>
          </a:prstGeom>
          <a:solidFill>
            <a:schemeClr val="accent6"/>
          </a:solidFill>
          <a:ln w="12700">
            <a:solidFill>
              <a:schemeClr val="accent6"/>
            </a:solidFill>
            <a:prstDash val="solid"/>
          </a:ln>
        </p:spPr>
      </p:sp>
      <p:pic>
        <p:nvPicPr>
          <p:cNvPr id="15" name="Air conditioner icon" descr="Air conditioner">    </p:cNvPr>
          <p:cNvPicPr>
            <a:picLocks noChangeAspect="1"/>
          </p:cNvPicPr>
          <p:nvPr/>
        </p:nvPicPr>
        <p:blipFill>
          <a:blip r:embed="rId3"/>
          <a:stretch>
            <a:fillRect/>
          </a:stretch>
        </p:blipFill>
        <p:spPr>
          <a:xfrm>
            <a:off x="8780374" y="2054657"/>
            <a:ext cx="416966" cy="416966"/>
          </a:xfrm>
          <a:prstGeom prst="rect">
            <a:avLst/>
          </a:prstGeom>
        </p:spPr>
      </p:pic>
      <p:sp>
        <p:nvSpPr>
          <p:cNvPr id="16" name="Text 11"/>
          <p:cNvSpPr txBox="1"/>
          <p:nvPr/>
        </p:nvSpPr>
        <p:spPr>
          <a:xfrm>
            <a:off x="8554517" y="2880360"/>
            <a:ext cx="2722778" cy="457200"/>
          </a:xfrm>
          <a:prstGeom prst="rect">
            <a:avLst/>
          </a:prstGeom>
          <a:noFill/>
          <a:ln/>
        </p:spPr>
        <p:txBody>
          <a:bodyPr wrap="square" lIns="0" tIns="0" rIns="0" bIns="0" rtlCol="0" anchor="t"/>
          <a:lstStyle/>
          <a:p>
            <a:pPr indent="0" marL="0">
              <a:buNone/>
            </a:pPr>
            <a:r>
              <a:rPr lang="en-US" sz="2200" b="1" dirty="0">
                <a:solidFill>
                  <a:schemeClr val="tx2"/>
                </a:solidFill>
              </a:rPr>
              <a:t>Air conditioner</a:t>
            </a:r>
            <a:endParaRPr lang="en-US" sz="2200" dirty="0"/>
          </a:p>
        </p:txBody>
      </p:sp>
      <p:sp>
        <p:nvSpPr>
          <p:cNvPr id="17" name="Text 12"/>
          <p:cNvSpPr txBox="1"/>
          <p:nvPr/>
        </p:nvSpPr>
        <p:spPr>
          <a:xfrm>
            <a:off x="8554517" y="3474720"/>
            <a:ext cx="2722778" cy="16459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3.5 kW max</a:t>
            </a:r>
            <a:endParaRPr lang="en-US" sz="1600" dirty="0"/>
          </a:p>
          <a:p>
            <a:pPr marL="342900" indent="-342900">
              <a:spcAft>
                <a:spcPts val="800"/>
              </a:spcAft>
              <a:buSzPct val="100000"/>
              <a:buChar char="•"/>
            </a:pPr>
            <a:r>
              <a:rPr lang="en-US" sz="1600" dirty="0">
                <a:solidFill>
                  <a:schemeClr val="tx1"/>
                </a:solidFill>
              </a:rPr>
              <a:t>Keep the room ≤ 25 °C</a:t>
            </a:r>
            <a:endParaRPr lang="en-US" sz="1600" dirty="0"/>
          </a:p>
          <a:p>
            <a:pPr marL="342900" indent="-342900">
              <a:spcAft>
                <a:spcPts val="800"/>
              </a:spcAft>
              <a:buSzPct val="100000"/>
              <a:buChar char="•"/>
            </a:pPr>
            <a:r>
              <a:rPr lang="en-US" sz="1600" dirty="0">
                <a:solidFill>
                  <a:schemeClr val="tx1"/>
                </a:solidFill>
              </a:rPr>
              <a:t>On/off, 10-min minimum run</a:t>
            </a:r>
            <a:endParaRPr lang="en-US" sz="1600" dirty="0"/>
          </a:p>
        </p:txBody>
      </p:sp>
      <p:sp>
        <p:nvSpPr>
          <p:cNvPr id="18" name="Text 13"/>
          <p:cNvSpPr txBox="1"/>
          <p:nvPr/>
        </p:nvSpPr>
        <p:spPr>
          <a:xfrm>
            <a:off x="548640" y="5577840"/>
            <a:ext cx="11094415" cy="548640"/>
          </a:xfrm>
          <a:prstGeom prst="rect">
            <a:avLst/>
          </a:prstGeom>
          <a:noFill/>
          <a:ln/>
        </p:spPr>
        <p:txBody>
          <a:bodyPr wrap="square" lIns="0" tIns="0" rIns="0" bIns="0" rtlCol="0" anchor="t"/>
          <a:lstStyle/>
          <a:p>
            <a:pPr indent="0" marL="0">
              <a:buNone/>
            </a:pPr>
            <a:r>
              <a:rPr lang="en-US" sz="1300" i="1" dirty="0">
                <a:solidFill>
                  <a:schemeClr val="accent4"/>
                </a:solidFill>
              </a:rPr>
              <a:t>Every device reading and the room's thermal behaviour are SIMULATED. Readings carry an ID and timestamp so a real sensor could implement the same interface later.</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Measure, decide, act, explain — every minute</a:t>
            </a:r>
            <a:endParaRPr lang="en-US" sz="3200" dirty="0"/>
          </a:p>
        </p:txBody>
      </p:sp>
      <p:sp>
        <p:nvSpPr>
          <p:cNvPr id="3" name="Measure circle"/>
          <p:cNvSpPr/>
          <p:nvPr/>
        </p:nvSpPr>
        <p:spPr>
          <a:xfrm>
            <a:off x="1234440" y="1508760"/>
            <a:ext cx="1005840" cy="1005840"/>
          </a:xfrm>
          <a:prstGeom prst="ellipse">
            <a:avLst/>
          </a:prstGeom>
          <a:solidFill>
            <a:schemeClr val="accent1"/>
          </a:solidFill>
          <a:ln w="12700">
            <a:solidFill>
              <a:schemeClr val="accent1"/>
            </a:solidFill>
            <a:prstDash val="solid"/>
          </a:ln>
        </p:spPr>
      </p:sp>
      <p:pic>
        <p:nvPicPr>
          <p:cNvPr id="4" name="Measure icon" descr="Measure">    </p:cNvPr>
          <p:cNvPicPr>
            <a:picLocks noChangeAspect="1"/>
          </p:cNvPicPr>
          <p:nvPr/>
        </p:nvPicPr>
        <p:blipFill>
          <a:blip r:embed="rId1"/>
          <a:stretch>
            <a:fillRect/>
          </a:stretch>
        </p:blipFill>
        <p:spPr>
          <a:xfrm>
            <a:off x="1495958" y="1770278"/>
            <a:ext cx="482803" cy="482803"/>
          </a:xfrm>
          <a:prstGeom prst="rect">
            <a:avLst/>
          </a:prstGeom>
        </p:spPr>
      </p:pic>
      <p:sp>
        <p:nvSpPr>
          <p:cNvPr id="5" name="Text 2"/>
          <p:cNvSpPr txBox="1"/>
          <p:nvPr/>
        </p:nvSpPr>
        <p:spPr>
          <a:xfrm>
            <a:off x="548640" y="2697480"/>
            <a:ext cx="2377440" cy="457200"/>
          </a:xfrm>
          <a:prstGeom prst="rect">
            <a:avLst/>
          </a:prstGeom>
          <a:noFill/>
          <a:ln/>
        </p:spPr>
        <p:txBody>
          <a:bodyPr wrap="square" lIns="0" tIns="0" rIns="0" bIns="0" rtlCol="0" anchor="t"/>
          <a:lstStyle/>
          <a:p>
            <a:pPr algn="ctr" indent="0" marL="0">
              <a:buNone/>
            </a:pPr>
            <a:r>
              <a:rPr lang="en-US" sz="2200" b="1" dirty="0">
                <a:solidFill>
                  <a:schemeClr val="tx2"/>
                </a:solidFill>
              </a:rPr>
              <a:t>Measure</a:t>
            </a:r>
            <a:endParaRPr lang="en-US" sz="2200" dirty="0"/>
          </a:p>
        </p:txBody>
      </p:sp>
      <p:sp>
        <p:nvSpPr>
          <p:cNvPr id="6" name="Text 3"/>
          <p:cNvSpPr txBox="1"/>
          <p:nvPr/>
        </p:nvSpPr>
        <p:spPr>
          <a:xfrm>
            <a:off x="548640" y="3200400"/>
            <a:ext cx="2377440" cy="1188720"/>
          </a:xfrm>
          <a:prstGeom prst="rect">
            <a:avLst/>
          </a:prstGeom>
          <a:noFill/>
          <a:ln/>
        </p:spPr>
        <p:txBody>
          <a:bodyPr wrap="square" lIns="0" tIns="0" rIns="0" bIns="0" rtlCol="0" anchor="t"/>
          <a:lstStyle/>
          <a:p>
            <a:pPr algn="ctr" indent="0" marL="0">
              <a:buNone/>
            </a:pPr>
            <a:r>
              <a:rPr lang="en-US" sz="1500" dirty="0">
                <a:solidFill>
                  <a:schemeClr val="tx1"/>
                </a:solidFill>
              </a:rPr>
              <a:t>Each device reports power draw (and room temperature) with an ID and timestamp</a:t>
            </a:r>
            <a:endParaRPr lang="en-US" sz="1500" dirty="0"/>
          </a:p>
        </p:txBody>
      </p:sp>
      <p:sp>
        <p:nvSpPr>
          <p:cNvPr id="7" name="Arrow 1"/>
          <p:cNvSpPr/>
          <p:nvPr/>
        </p:nvSpPr>
        <p:spPr>
          <a:xfrm>
            <a:off x="2961589" y="1828800"/>
            <a:ext cx="457200" cy="365760"/>
          </a:xfrm>
          <a:prstGeom prst="rightArrow">
            <a:avLst/>
          </a:prstGeom>
          <a:solidFill>
            <a:schemeClr val="accent5"/>
          </a:solidFill>
          <a:ln w="12700">
            <a:solidFill>
              <a:schemeClr val="accent5"/>
            </a:solidFill>
            <a:prstDash val="solid"/>
          </a:ln>
        </p:spPr>
      </p:sp>
      <p:sp>
        <p:nvSpPr>
          <p:cNvPr id="8" name="Decide circle"/>
          <p:cNvSpPr/>
          <p:nvPr/>
        </p:nvSpPr>
        <p:spPr>
          <a:xfrm>
            <a:off x="4140098" y="1508760"/>
            <a:ext cx="1005840" cy="1005840"/>
          </a:xfrm>
          <a:prstGeom prst="ellipse">
            <a:avLst/>
          </a:prstGeom>
          <a:solidFill>
            <a:schemeClr val="accent1"/>
          </a:solidFill>
          <a:ln w="12700">
            <a:solidFill>
              <a:schemeClr val="accent1"/>
            </a:solidFill>
            <a:prstDash val="solid"/>
          </a:ln>
        </p:spPr>
      </p:sp>
      <p:pic>
        <p:nvPicPr>
          <p:cNvPr id="9" name="Decide icon" descr="Decide">    </p:cNvPr>
          <p:cNvPicPr>
            <a:picLocks noChangeAspect="1"/>
          </p:cNvPicPr>
          <p:nvPr/>
        </p:nvPicPr>
        <p:blipFill>
          <a:blip r:embed="rId2"/>
          <a:stretch>
            <a:fillRect/>
          </a:stretch>
        </p:blipFill>
        <p:spPr>
          <a:xfrm>
            <a:off x="4401617" y="1770278"/>
            <a:ext cx="482803" cy="482803"/>
          </a:xfrm>
          <a:prstGeom prst="rect">
            <a:avLst/>
          </a:prstGeom>
        </p:spPr>
      </p:pic>
      <p:sp>
        <p:nvSpPr>
          <p:cNvPr id="10" name="Text 6"/>
          <p:cNvSpPr txBox="1"/>
          <p:nvPr/>
        </p:nvSpPr>
        <p:spPr>
          <a:xfrm>
            <a:off x="3454298" y="2697480"/>
            <a:ext cx="2377440" cy="457200"/>
          </a:xfrm>
          <a:prstGeom prst="rect">
            <a:avLst/>
          </a:prstGeom>
          <a:noFill/>
          <a:ln/>
        </p:spPr>
        <p:txBody>
          <a:bodyPr wrap="square" lIns="0" tIns="0" rIns="0" bIns="0" rtlCol="0" anchor="t"/>
          <a:lstStyle/>
          <a:p>
            <a:pPr algn="ctr" indent="0" marL="0">
              <a:buNone/>
            </a:pPr>
            <a:r>
              <a:rPr lang="en-US" sz="2200" b="1" dirty="0">
                <a:solidFill>
                  <a:schemeClr val="tx2"/>
                </a:solidFill>
              </a:rPr>
              <a:t>Decide</a:t>
            </a:r>
            <a:endParaRPr lang="en-US" sz="2200" dirty="0"/>
          </a:p>
        </p:txBody>
      </p:sp>
      <p:sp>
        <p:nvSpPr>
          <p:cNvPr id="11" name="Text 7"/>
          <p:cNvSpPr txBox="1"/>
          <p:nvPr/>
        </p:nvSpPr>
        <p:spPr>
          <a:xfrm>
            <a:off x="3454298" y="3200400"/>
            <a:ext cx="2377440" cy="1188720"/>
          </a:xfrm>
          <a:prstGeom prst="rect">
            <a:avLst/>
          </a:prstGeom>
          <a:noFill/>
          <a:ln/>
        </p:spPr>
        <p:txBody>
          <a:bodyPr wrap="square" lIns="0" tIns="0" rIns="0" bIns="0" rtlCol="0" anchor="t"/>
          <a:lstStyle/>
          <a:p>
            <a:pPr algn="ctr" indent="0" marL="0">
              <a:buNone/>
            </a:pPr>
            <a:r>
              <a:rPr lang="en-US" sz="1500" dirty="0">
                <a:solidFill>
                  <a:schemeClr val="tx1"/>
                </a:solidFill>
              </a:rPr>
              <a:t>A deterministic controller checks the power limit, deadlines and comfort</a:t>
            </a:r>
            <a:endParaRPr lang="en-US" sz="1500" dirty="0"/>
          </a:p>
        </p:txBody>
      </p:sp>
      <p:sp>
        <p:nvSpPr>
          <p:cNvPr id="12" name="Arrow 2"/>
          <p:cNvSpPr/>
          <p:nvPr/>
        </p:nvSpPr>
        <p:spPr>
          <a:xfrm>
            <a:off x="5867248" y="1828800"/>
            <a:ext cx="457200" cy="365760"/>
          </a:xfrm>
          <a:prstGeom prst="rightArrow">
            <a:avLst/>
          </a:prstGeom>
          <a:solidFill>
            <a:schemeClr val="accent5"/>
          </a:solidFill>
          <a:ln w="12700">
            <a:solidFill>
              <a:schemeClr val="accent5"/>
            </a:solidFill>
            <a:prstDash val="solid"/>
          </a:ln>
        </p:spPr>
      </p:sp>
      <p:sp>
        <p:nvSpPr>
          <p:cNvPr id="13" name="Act circle"/>
          <p:cNvSpPr/>
          <p:nvPr/>
        </p:nvSpPr>
        <p:spPr>
          <a:xfrm>
            <a:off x="7045757" y="1508760"/>
            <a:ext cx="1005840" cy="1005840"/>
          </a:xfrm>
          <a:prstGeom prst="ellipse">
            <a:avLst/>
          </a:prstGeom>
          <a:solidFill>
            <a:schemeClr val="accent1"/>
          </a:solidFill>
          <a:ln w="12700">
            <a:solidFill>
              <a:schemeClr val="accent1"/>
            </a:solidFill>
            <a:prstDash val="solid"/>
          </a:ln>
        </p:spPr>
      </p:sp>
      <p:pic>
        <p:nvPicPr>
          <p:cNvPr id="14" name="Act icon" descr="Act">    </p:cNvPr>
          <p:cNvPicPr>
            <a:picLocks noChangeAspect="1"/>
          </p:cNvPicPr>
          <p:nvPr/>
        </p:nvPicPr>
        <p:blipFill>
          <a:blip r:embed="rId3"/>
          <a:stretch>
            <a:fillRect/>
          </a:stretch>
        </p:blipFill>
        <p:spPr>
          <a:xfrm>
            <a:off x="7307275" y="1770278"/>
            <a:ext cx="482803" cy="482803"/>
          </a:xfrm>
          <a:prstGeom prst="rect">
            <a:avLst/>
          </a:prstGeom>
        </p:spPr>
      </p:pic>
      <p:sp>
        <p:nvSpPr>
          <p:cNvPr id="15" name="Text 10"/>
          <p:cNvSpPr txBox="1"/>
          <p:nvPr/>
        </p:nvSpPr>
        <p:spPr>
          <a:xfrm>
            <a:off x="6359957" y="2697480"/>
            <a:ext cx="2377440" cy="457200"/>
          </a:xfrm>
          <a:prstGeom prst="rect">
            <a:avLst/>
          </a:prstGeom>
          <a:noFill/>
          <a:ln/>
        </p:spPr>
        <p:txBody>
          <a:bodyPr wrap="square" lIns="0" tIns="0" rIns="0" bIns="0" rtlCol="0" anchor="t"/>
          <a:lstStyle/>
          <a:p>
            <a:pPr algn="ctr" indent="0" marL="0">
              <a:buNone/>
            </a:pPr>
            <a:r>
              <a:rPr lang="en-US" sz="2200" b="1" dirty="0">
                <a:solidFill>
                  <a:schemeClr val="tx2"/>
                </a:solidFill>
              </a:rPr>
              <a:t>Act</a:t>
            </a:r>
            <a:endParaRPr lang="en-US" sz="2200" dirty="0"/>
          </a:p>
        </p:txBody>
      </p:sp>
      <p:sp>
        <p:nvSpPr>
          <p:cNvPr id="16" name="Text 11"/>
          <p:cNvSpPr txBox="1"/>
          <p:nvPr/>
        </p:nvSpPr>
        <p:spPr>
          <a:xfrm>
            <a:off x="6359957" y="3200400"/>
            <a:ext cx="2377440" cy="1188720"/>
          </a:xfrm>
          <a:prstGeom prst="rect">
            <a:avLst/>
          </a:prstGeom>
          <a:noFill/>
          <a:ln/>
        </p:spPr>
        <p:txBody>
          <a:bodyPr wrap="square" lIns="0" tIns="0" rIns="0" bIns="0" rtlCol="0" anchor="t"/>
          <a:lstStyle/>
          <a:p>
            <a:pPr algn="ctr" indent="0" marL="0">
              <a:buNone/>
            </a:pPr>
            <a:r>
              <a:rPr lang="en-US" sz="1500" dirty="0">
                <a:solidFill>
                  <a:schemeClr val="tx1"/>
                </a:solidFill>
              </a:rPr>
              <a:t>Throttle or defer the flexible loads to stay under the limit</a:t>
            </a:r>
            <a:endParaRPr lang="en-US" sz="1500" dirty="0"/>
          </a:p>
        </p:txBody>
      </p:sp>
      <p:sp>
        <p:nvSpPr>
          <p:cNvPr id="17" name="Arrow 3"/>
          <p:cNvSpPr/>
          <p:nvPr/>
        </p:nvSpPr>
        <p:spPr>
          <a:xfrm>
            <a:off x="8772906" y="1828800"/>
            <a:ext cx="457200" cy="365760"/>
          </a:xfrm>
          <a:prstGeom prst="rightArrow">
            <a:avLst/>
          </a:prstGeom>
          <a:solidFill>
            <a:schemeClr val="accent5"/>
          </a:solidFill>
          <a:ln w="12700">
            <a:solidFill>
              <a:schemeClr val="accent5"/>
            </a:solidFill>
            <a:prstDash val="solid"/>
          </a:ln>
        </p:spPr>
      </p:sp>
      <p:sp>
        <p:nvSpPr>
          <p:cNvPr id="18" name="Explain circle"/>
          <p:cNvSpPr/>
          <p:nvPr/>
        </p:nvSpPr>
        <p:spPr>
          <a:xfrm>
            <a:off x="9951415" y="1508760"/>
            <a:ext cx="1005840" cy="1005840"/>
          </a:xfrm>
          <a:prstGeom prst="ellipse">
            <a:avLst/>
          </a:prstGeom>
          <a:solidFill>
            <a:schemeClr val="accent3"/>
          </a:solidFill>
          <a:ln w="12700">
            <a:solidFill>
              <a:schemeClr val="accent3"/>
            </a:solidFill>
            <a:prstDash val="solid"/>
          </a:ln>
        </p:spPr>
      </p:sp>
      <p:pic>
        <p:nvPicPr>
          <p:cNvPr id="19" name="Explain icon" descr="Explain">    </p:cNvPr>
          <p:cNvPicPr>
            <a:picLocks noChangeAspect="1"/>
          </p:cNvPicPr>
          <p:nvPr/>
        </p:nvPicPr>
        <p:blipFill>
          <a:blip r:embed="rId4"/>
          <a:stretch>
            <a:fillRect/>
          </a:stretch>
        </p:blipFill>
        <p:spPr>
          <a:xfrm>
            <a:off x="10212934" y="1770278"/>
            <a:ext cx="482803" cy="482803"/>
          </a:xfrm>
          <a:prstGeom prst="rect">
            <a:avLst/>
          </a:prstGeom>
        </p:spPr>
      </p:pic>
      <p:sp>
        <p:nvSpPr>
          <p:cNvPr id="20" name="Text 14"/>
          <p:cNvSpPr txBox="1"/>
          <p:nvPr/>
        </p:nvSpPr>
        <p:spPr>
          <a:xfrm>
            <a:off x="9265615" y="2697480"/>
            <a:ext cx="2377440" cy="457200"/>
          </a:xfrm>
          <a:prstGeom prst="rect">
            <a:avLst/>
          </a:prstGeom>
          <a:noFill/>
          <a:ln/>
        </p:spPr>
        <p:txBody>
          <a:bodyPr wrap="square" lIns="0" tIns="0" rIns="0" bIns="0" rtlCol="0" anchor="t"/>
          <a:lstStyle/>
          <a:p>
            <a:pPr algn="ctr" indent="0" marL="0">
              <a:buNone/>
            </a:pPr>
            <a:r>
              <a:rPr lang="en-US" sz="2200" b="1" dirty="0">
                <a:solidFill>
                  <a:schemeClr val="tx2"/>
                </a:solidFill>
              </a:rPr>
              <a:t>Explain</a:t>
            </a:r>
            <a:endParaRPr lang="en-US" sz="2200" dirty="0"/>
          </a:p>
        </p:txBody>
      </p:sp>
      <p:sp>
        <p:nvSpPr>
          <p:cNvPr id="21" name="Text 15"/>
          <p:cNvSpPr txBox="1"/>
          <p:nvPr/>
        </p:nvSpPr>
        <p:spPr>
          <a:xfrm>
            <a:off x="9265615" y="3200400"/>
            <a:ext cx="2377440" cy="1188720"/>
          </a:xfrm>
          <a:prstGeom prst="rect">
            <a:avLst/>
          </a:prstGeom>
          <a:noFill/>
          <a:ln/>
        </p:spPr>
        <p:txBody>
          <a:bodyPr wrap="square" lIns="0" tIns="0" rIns="0" bIns="0" rtlCol="0" anchor="t"/>
          <a:lstStyle/>
          <a:p>
            <a:pPr algn="ctr" indent="0" marL="0">
              <a:buNone/>
            </a:pPr>
            <a:r>
              <a:rPr lang="en-US" sz="1500" dirty="0">
                <a:solidFill>
                  <a:schemeClr val="tx1"/>
                </a:solidFill>
              </a:rPr>
              <a:t>Log a plain-language reason for every action it takes</a:t>
            </a:r>
            <a:endParaRPr lang="en-US" sz="1500" dirty="0"/>
          </a:p>
        </p:txBody>
      </p:sp>
      <p:sp>
        <p:nvSpPr>
          <p:cNvPr id="22" name="Decision log card"/>
          <p:cNvSpPr/>
          <p:nvPr/>
        </p:nvSpPr>
        <p:spPr>
          <a:xfrm>
            <a:off x="548640" y="4709160"/>
            <a:ext cx="11094415" cy="1325880"/>
          </a:xfrm>
          <a:prstGeom prst="roundRect">
            <a:avLst>
              <a:gd name="adj" fmla="val 8276"/>
            </a:avLst>
          </a:prstGeom>
          <a:solidFill>
            <a:schemeClr val="tx2"/>
          </a:solidFill>
          <a:ln w="12700">
            <a:solidFill>
              <a:schemeClr val="tx2"/>
            </a:solidFill>
            <a:prstDash val="solid"/>
          </a:ln>
          <a:effectLst>
            <a:outerShdw sx="100000" sy="100000" kx="0" ky="0" algn="bl" rotWithShape="0" blurRad="76200" dist="25400" dir="5400000">
              <a:srgbClr val="000000">
                <a:alpha val="12000"/>
              </a:srgbClr>
            </a:outerShdw>
          </a:effectLst>
        </p:spPr>
      </p:sp>
      <p:sp>
        <p:nvSpPr>
          <p:cNvPr id="23" name="Text 17"/>
          <p:cNvSpPr txBox="1"/>
          <p:nvPr/>
        </p:nvSpPr>
        <p:spPr>
          <a:xfrm>
            <a:off x="868680" y="4846320"/>
            <a:ext cx="7315200" cy="320040"/>
          </a:xfrm>
          <a:prstGeom prst="rect">
            <a:avLst/>
          </a:prstGeom>
          <a:noFill/>
          <a:ln/>
        </p:spPr>
        <p:txBody>
          <a:bodyPr wrap="square" lIns="0" tIns="0" rIns="0" bIns="0" rtlCol="0" anchor="t"/>
          <a:lstStyle/>
          <a:p>
            <a:pPr indent="0" marL="0">
              <a:buNone/>
            </a:pPr>
            <a:r>
              <a:rPr lang="en-US" sz="1300" dirty="0">
                <a:solidFill>
                  <a:schemeClr val="accent5"/>
                </a:solidFill>
              </a:rPr>
              <a:t>From the decision log (hot evening, coordinated run):</a:t>
            </a:r>
            <a:endParaRPr lang="en-US" sz="1300" dirty="0"/>
          </a:p>
        </p:txBody>
      </p:sp>
      <p:sp>
        <p:nvSpPr>
          <p:cNvPr id="24" name="Text 18"/>
          <p:cNvSpPr txBox="1"/>
          <p:nvPr/>
        </p:nvSpPr>
        <p:spPr>
          <a:xfrm>
            <a:off x="868680" y="5166360"/>
            <a:ext cx="10454335" cy="777240"/>
          </a:xfrm>
          <a:prstGeom prst="rect">
            <a:avLst/>
          </a:prstGeom>
          <a:noFill/>
          <a:ln/>
        </p:spPr>
        <p:txBody>
          <a:bodyPr wrap="square" lIns="0" tIns="0" rIns="0" bIns="0" rtlCol="0" anchor="t"/>
          <a:lstStyle/>
          <a:p>
            <a:pPr indent="0" marL="0">
              <a:buNone/>
            </a:pPr>
            <a:r>
              <a:rPr lang="en-US" sz="1400" dirty="0">
                <a:solidFill>
                  <a:schemeClr val="bg1"/>
                </a:solidFill>
                <a:latin typeface="Courier New" pitchFamily="34" charset="0"/>
                <a:ea typeface="Courier New" pitchFamily="34" charset="-122"/>
                <a:cs typeface="Courier New" pitchFamily="34" charset="-120"/>
              </a:rPr>
              <a:t>17:07  ev-1  throttled to fit power limit</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17:42  wh-1  heating ON (min run 15 min)</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17:57  wh-1  paused to hold building under power limit</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Least-slack-first: closest deadline gets power first</a:t>
            </a:r>
            <a:endParaRPr lang="en-US" sz="3200" dirty="0"/>
          </a:p>
        </p:txBody>
      </p:sp>
      <p:sp>
        <p:nvSpPr>
          <p:cNvPr id="3" name="Slack definition card"/>
          <p:cNvSpPr/>
          <p:nvPr/>
        </p:nvSpPr>
        <p:spPr>
          <a:xfrm>
            <a:off x="548640" y="1417320"/>
            <a:ext cx="5120640" cy="2331720"/>
          </a:xfrm>
          <a:prstGeom prst="roundRect">
            <a:avLst>
              <a:gd name="adj" fmla="val 4706"/>
            </a:avLst>
          </a:prstGeom>
          <a:solidFill>
            <a:schemeClr val="tx2"/>
          </a:solidFill>
          <a:ln w="12700">
            <a:solidFill>
              <a:schemeClr val="tx2"/>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914400" y="1645920"/>
            <a:ext cx="4389120" cy="457200"/>
          </a:xfrm>
          <a:prstGeom prst="rect">
            <a:avLst/>
          </a:prstGeom>
          <a:noFill/>
          <a:ln/>
        </p:spPr>
        <p:txBody>
          <a:bodyPr wrap="square" lIns="0" tIns="0" rIns="0" bIns="0" rtlCol="0" anchor="t"/>
          <a:lstStyle/>
          <a:p>
            <a:pPr indent="0" marL="0">
              <a:buNone/>
            </a:pPr>
            <a:r>
              <a:rPr lang="en-US" sz="1800" dirty="0">
                <a:solidFill>
                  <a:schemeClr val="accent5"/>
                </a:solidFill>
              </a:rPr>
              <a:t>slack</a:t>
            </a:r>
            <a:endParaRPr lang="en-US" sz="1800" dirty="0"/>
          </a:p>
        </p:txBody>
      </p:sp>
      <p:sp>
        <p:nvSpPr>
          <p:cNvPr id="5" name="Text 3"/>
          <p:cNvSpPr txBox="1"/>
          <p:nvPr/>
        </p:nvSpPr>
        <p:spPr>
          <a:xfrm>
            <a:off x="914400" y="2057400"/>
            <a:ext cx="4480560" cy="777240"/>
          </a:xfrm>
          <a:prstGeom prst="rect">
            <a:avLst/>
          </a:prstGeom>
          <a:noFill/>
          <a:ln/>
        </p:spPr>
        <p:txBody>
          <a:bodyPr wrap="square" lIns="0" tIns="0" rIns="0" bIns="0" rtlCol="0" anchor="t"/>
          <a:lstStyle/>
          <a:p>
            <a:pPr indent="0" marL="0">
              <a:buNone/>
            </a:pPr>
            <a:r>
              <a:rPr lang="en-US" sz="2100" b="1" dirty="0">
                <a:solidFill>
                  <a:schemeClr val="bg1"/>
                </a:solidFill>
              </a:rPr>
              <a:t>time to deadline</a:t>
            </a:r>
            <a:pPr indent="0" marL="0">
              <a:buNone/>
            </a:pPr>
            <a:r>
              <a:rPr lang="en-US" sz="2100" b="1" dirty="0">
                <a:solidFill>
                  <a:schemeClr val="accent3"/>
                </a:solidFill>
              </a:rPr>
              <a:t>  −  </a:t>
            </a:r>
            <a:pPr indent="0" marL="0">
              <a:buNone/>
            </a:pPr>
            <a:r>
              <a:rPr lang="en-US" sz="2100" b="1" dirty="0">
                <a:solidFill>
                  <a:schemeClr val="bg1"/>
                </a:solidFill>
              </a:rPr>
              <a:t>time needed at full power</a:t>
            </a:r>
            <a:endParaRPr lang="en-US" sz="2100" dirty="0"/>
          </a:p>
        </p:txBody>
      </p:sp>
      <p:sp>
        <p:nvSpPr>
          <p:cNvPr id="6" name="Text 4"/>
          <p:cNvSpPr txBox="1"/>
          <p:nvPr/>
        </p:nvSpPr>
        <p:spPr>
          <a:xfrm>
            <a:off x="914400" y="2971800"/>
            <a:ext cx="4480560" cy="594360"/>
          </a:xfrm>
          <a:prstGeom prst="rect">
            <a:avLst/>
          </a:prstGeom>
          <a:noFill/>
          <a:ln/>
        </p:spPr>
        <p:txBody>
          <a:bodyPr wrap="square" lIns="0" tIns="0" rIns="0" bIns="0" rtlCol="0" anchor="t"/>
          <a:lstStyle/>
          <a:p>
            <a:pPr indent="0" marL="0">
              <a:buNone/>
            </a:pPr>
            <a:r>
              <a:rPr lang="en-US" sz="1400" dirty="0">
                <a:solidFill>
                  <a:schemeClr val="accent5"/>
                </a:solidFill>
              </a:rPr>
              <a:t>Lowest slack is served first. At zero slack a task runs flat out — and any breach is logged.</a:t>
            </a:r>
            <a:endParaRPr lang="en-US" sz="1400" dirty="0"/>
          </a:p>
        </p:txBody>
      </p:sp>
      <p:sp>
        <p:nvSpPr>
          <p:cNvPr id="7" name="Text 5"/>
          <p:cNvSpPr txBox="1"/>
          <p:nvPr/>
        </p:nvSpPr>
        <p:spPr>
          <a:xfrm>
            <a:off x="548640" y="4069080"/>
            <a:ext cx="5120640" cy="1828800"/>
          </a:xfrm>
          <a:prstGeom prst="rect">
            <a:avLst/>
          </a:prstGeom>
          <a:noFill/>
          <a:ln/>
        </p:spPr>
        <p:txBody>
          <a:bodyPr wrap="square" lIns="0" tIns="0" rIns="0" bIns="0" rtlCol="0" anchor="t"/>
          <a:lstStyle/>
          <a:p>
            <a:pPr indent="0" marL="0">
              <a:spcAft>
                <a:spcPts val="1200"/>
              </a:spcAft>
              <a:buNone/>
            </a:pPr>
            <a:r>
              <a:rPr lang="en-US" sz="1600" b="1" dirty="0">
                <a:solidFill>
                  <a:schemeClr val="tx1"/>
                </a:solidFill>
              </a:rPr>
              <a:t>Deterministic: </a:t>
            </a:r>
            <a:pPr indent="0" marL="0">
              <a:spcAft>
                <a:spcPts val="1200"/>
              </a:spcAft>
              <a:buNone/>
            </a:pPr>
            <a:r>
              <a:rPr lang="en-US" sz="1600" dirty="0">
                <a:solidFill>
                  <a:schemeClr val="tx1"/>
                </a:solidFill>
              </a:rPr>
              <a:t>same inputs → same schedule. No randomness, no learned policy.</a:t>
            </a:r>
            <a:endParaRPr lang="en-US" sz="1600" dirty="0"/>
          </a:p>
          <a:p>
            <a:pPr indent="0" marL="0">
              <a:spcAft>
                <a:spcPts val="1200"/>
              </a:spcAft>
              <a:buNone/>
            </a:pPr>
            <a:r>
              <a:rPr lang="en-US" sz="1600" b="1" dirty="0">
                <a:solidFill>
                  <a:schemeClr val="tx1"/>
                </a:solidFill>
              </a:rPr>
              <a:t>Equipment-realistic: </a:t>
            </a:r>
            <a:pPr indent="0" marL="0">
              <a:spcAft>
                <a:spcPts val="1200"/>
              </a:spcAft>
              <a:buNone/>
            </a:pPr>
            <a:r>
              <a:rPr lang="en-US" sz="1600" dirty="0">
                <a:solidFill>
                  <a:schemeClr val="tx1"/>
                </a:solidFill>
              </a:rPr>
              <a:t>minimum run times stop relays cycling every minute.</a:t>
            </a:r>
            <a:endParaRPr lang="en-US" sz="1600" dirty="0"/>
          </a:p>
        </p:txBody>
      </p:sp>
      <p:sp>
        <p:nvSpPr>
          <p:cNvPr id="8" name="Step 1 card"/>
          <p:cNvSpPr/>
          <p:nvPr/>
        </p:nvSpPr>
        <p:spPr>
          <a:xfrm>
            <a:off x="6172200" y="1417320"/>
            <a:ext cx="5470855" cy="1280160"/>
          </a:xfrm>
          <a:prstGeom prst="roundRect">
            <a:avLst>
              <a:gd name="adj" fmla="val 857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Step 1 badge"/>
          <p:cNvSpPr/>
          <p:nvPr/>
        </p:nvSpPr>
        <p:spPr>
          <a:xfrm>
            <a:off x="6446520" y="1764792"/>
            <a:ext cx="585216" cy="585216"/>
          </a:xfrm>
          <a:prstGeom prst="ellipse">
            <a:avLst/>
          </a:prstGeom>
          <a:solidFill>
            <a:schemeClr val="accent2"/>
          </a:solidFill>
          <a:ln w="12700">
            <a:solidFill>
              <a:schemeClr val="accent2"/>
            </a:solidFill>
            <a:prstDash val="solid"/>
          </a:ln>
        </p:spPr>
      </p:sp>
      <p:sp>
        <p:nvSpPr>
          <p:cNvPr id="10" name="Text 8"/>
          <p:cNvSpPr txBox="1"/>
          <p:nvPr/>
        </p:nvSpPr>
        <p:spPr>
          <a:xfrm>
            <a:off x="6446520" y="1764792"/>
            <a:ext cx="585216" cy="585216"/>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11" name="Text 9"/>
          <p:cNvSpPr txBox="1"/>
          <p:nvPr/>
        </p:nvSpPr>
        <p:spPr>
          <a:xfrm>
            <a:off x="7269480" y="1600200"/>
            <a:ext cx="4144975" cy="384048"/>
          </a:xfrm>
          <a:prstGeom prst="rect">
            <a:avLst/>
          </a:prstGeom>
          <a:noFill/>
          <a:ln/>
        </p:spPr>
        <p:txBody>
          <a:bodyPr wrap="square" lIns="0" tIns="0" rIns="0" bIns="0" rtlCol="0" anchor="t"/>
          <a:lstStyle/>
          <a:p>
            <a:pPr indent="0" marL="0">
              <a:buNone/>
            </a:pPr>
            <a:r>
              <a:rPr lang="en-US" sz="1800" b="1" dirty="0">
                <a:solidFill>
                  <a:schemeClr val="tx2"/>
                </a:solidFill>
              </a:rPr>
              <a:t>Commit forced loads</a:t>
            </a:r>
            <a:endParaRPr lang="en-US" sz="1800" dirty="0"/>
          </a:p>
        </p:txBody>
      </p:sp>
      <p:sp>
        <p:nvSpPr>
          <p:cNvPr id="12" name="Text 10"/>
          <p:cNvSpPr txBox="1"/>
          <p:nvPr/>
        </p:nvSpPr>
        <p:spPr>
          <a:xfrm>
            <a:off x="7269480" y="2002536"/>
            <a:ext cx="4144975" cy="640080"/>
          </a:xfrm>
          <a:prstGeom prst="rect">
            <a:avLst/>
          </a:prstGeom>
          <a:noFill/>
          <a:ln/>
        </p:spPr>
        <p:txBody>
          <a:bodyPr wrap="square" lIns="0" tIns="0" rIns="0" bIns="0" rtlCol="0" anchor="t"/>
          <a:lstStyle/>
          <a:p>
            <a:pPr indent="0" marL="0">
              <a:buNone/>
            </a:pPr>
            <a:r>
              <a:rPr lang="en-US" sz="1400" dirty="0">
                <a:solidFill>
                  <a:schemeClr val="tx1"/>
                </a:solidFill>
              </a:rPr>
              <a:t>Base load, offline holds, AC when the room nears 25 °C, water heater mid minimum-run</a:t>
            </a:r>
            <a:endParaRPr lang="en-US" sz="1400" dirty="0"/>
          </a:p>
        </p:txBody>
      </p:sp>
      <p:sp>
        <p:nvSpPr>
          <p:cNvPr id="13" name="Step 2 card"/>
          <p:cNvSpPr/>
          <p:nvPr/>
        </p:nvSpPr>
        <p:spPr>
          <a:xfrm>
            <a:off x="6172200" y="2926080"/>
            <a:ext cx="5470855" cy="1280160"/>
          </a:xfrm>
          <a:prstGeom prst="roundRect">
            <a:avLst>
              <a:gd name="adj" fmla="val 857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4" name="Step 2 badge"/>
          <p:cNvSpPr/>
          <p:nvPr/>
        </p:nvSpPr>
        <p:spPr>
          <a:xfrm>
            <a:off x="6446520" y="3273552"/>
            <a:ext cx="585216" cy="585216"/>
          </a:xfrm>
          <a:prstGeom prst="ellipse">
            <a:avLst/>
          </a:prstGeom>
          <a:solidFill>
            <a:schemeClr val="accent1"/>
          </a:solidFill>
          <a:ln w="12700">
            <a:solidFill>
              <a:schemeClr val="accent1"/>
            </a:solidFill>
            <a:prstDash val="solid"/>
          </a:ln>
        </p:spPr>
      </p:sp>
      <p:sp>
        <p:nvSpPr>
          <p:cNvPr id="15" name="Text 13"/>
          <p:cNvSpPr txBox="1"/>
          <p:nvPr/>
        </p:nvSpPr>
        <p:spPr>
          <a:xfrm>
            <a:off x="6446520" y="3273552"/>
            <a:ext cx="585216" cy="585216"/>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6" name="Text 14"/>
          <p:cNvSpPr txBox="1"/>
          <p:nvPr/>
        </p:nvSpPr>
        <p:spPr>
          <a:xfrm>
            <a:off x="7269480" y="3108960"/>
            <a:ext cx="4144975" cy="384048"/>
          </a:xfrm>
          <a:prstGeom prst="rect">
            <a:avLst/>
          </a:prstGeom>
          <a:noFill/>
          <a:ln/>
        </p:spPr>
        <p:txBody>
          <a:bodyPr wrap="square" lIns="0" tIns="0" rIns="0" bIns="0" rtlCol="0" anchor="t"/>
          <a:lstStyle/>
          <a:p>
            <a:pPr indent="0" marL="0">
              <a:buNone/>
            </a:pPr>
            <a:r>
              <a:rPr lang="en-US" sz="1800" b="1" dirty="0">
                <a:solidFill>
                  <a:schemeClr val="tx2"/>
                </a:solidFill>
              </a:rPr>
              <a:t>Share the headroom by slack</a:t>
            </a:r>
            <a:endParaRPr lang="en-US" sz="1800" dirty="0"/>
          </a:p>
        </p:txBody>
      </p:sp>
      <p:sp>
        <p:nvSpPr>
          <p:cNvPr id="17" name="Text 15"/>
          <p:cNvSpPr txBox="1"/>
          <p:nvPr/>
        </p:nvSpPr>
        <p:spPr>
          <a:xfrm>
            <a:off x="7269480" y="3511296"/>
            <a:ext cx="4144975" cy="640080"/>
          </a:xfrm>
          <a:prstGeom prst="rect">
            <a:avLst/>
          </a:prstGeom>
          <a:noFill/>
          <a:ln/>
        </p:spPr>
        <p:txBody>
          <a:bodyPr wrap="square" lIns="0" tIns="0" rIns="0" bIns="0" rtlCol="0" anchor="t"/>
          <a:lstStyle/>
          <a:p>
            <a:pPr indent="0" marL="0">
              <a:buNone/>
            </a:pPr>
            <a:r>
              <a:rPr lang="en-US" sz="1400" dirty="0">
                <a:solidFill>
                  <a:schemeClr val="tx1"/>
                </a:solidFill>
              </a:rPr>
              <a:t>EV throttles to fit what's left; water heater starts only if its whole 15-min run fits</a:t>
            </a:r>
            <a:endParaRPr lang="en-US" sz="1400" dirty="0"/>
          </a:p>
        </p:txBody>
      </p:sp>
      <p:sp>
        <p:nvSpPr>
          <p:cNvPr id="18" name="Step 3 card"/>
          <p:cNvSpPr/>
          <p:nvPr/>
        </p:nvSpPr>
        <p:spPr>
          <a:xfrm>
            <a:off x="6172200" y="4434840"/>
            <a:ext cx="5470855" cy="1280160"/>
          </a:xfrm>
          <a:prstGeom prst="roundRect">
            <a:avLst>
              <a:gd name="adj" fmla="val 857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9" name="Step 3 badge"/>
          <p:cNvSpPr/>
          <p:nvPr/>
        </p:nvSpPr>
        <p:spPr>
          <a:xfrm>
            <a:off x="6446520" y="4782312"/>
            <a:ext cx="585216" cy="585216"/>
          </a:xfrm>
          <a:prstGeom prst="ellipse">
            <a:avLst/>
          </a:prstGeom>
          <a:solidFill>
            <a:schemeClr val="accent4"/>
          </a:solidFill>
          <a:ln w="12700">
            <a:solidFill>
              <a:schemeClr val="accent4"/>
            </a:solidFill>
            <a:prstDash val="solid"/>
          </a:ln>
        </p:spPr>
      </p:sp>
      <p:sp>
        <p:nvSpPr>
          <p:cNvPr id="20" name="Text 18"/>
          <p:cNvSpPr txBox="1"/>
          <p:nvPr/>
        </p:nvSpPr>
        <p:spPr>
          <a:xfrm>
            <a:off x="6446520" y="4782312"/>
            <a:ext cx="585216" cy="585216"/>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21" name="Text 19"/>
          <p:cNvSpPr txBox="1"/>
          <p:nvPr/>
        </p:nvSpPr>
        <p:spPr>
          <a:xfrm>
            <a:off x="7269480" y="4617720"/>
            <a:ext cx="4144975" cy="384048"/>
          </a:xfrm>
          <a:prstGeom prst="rect">
            <a:avLst/>
          </a:prstGeom>
          <a:noFill/>
          <a:ln/>
        </p:spPr>
        <p:txBody>
          <a:bodyPr wrap="square" lIns="0" tIns="0" rIns="0" bIns="0" rtlCol="0" anchor="t"/>
          <a:lstStyle/>
          <a:p>
            <a:pPr indent="0" marL="0">
              <a:buNone/>
            </a:pPr>
            <a:r>
              <a:rPr lang="en-US" sz="1800" b="1" dirty="0">
                <a:solidFill>
                  <a:schemeClr val="tx2"/>
                </a:solidFill>
              </a:rPr>
              <a:t>Advance the room</a:t>
            </a:r>
            <a:endParaRPr lang="en-US" sz="1800" dirty="0"/>
          </a:p>
        </p:txBody>
      </p:sp>
      <p:sp>
        <p:nvSpPr>
          <p:cNvPr id="22" name="Text 20"/>
          <p:cNvSpPr txBox="1"/>
          <p:nvPr/>
        </p:nvSpPr>
        <p:spPr>
          <a:xfrm>
            <a:off x="7269480" y="5020056"/>
            <a:ext cx="4144975" cy="640080"/>
          </a:xfrm>
          <a:prstGeom prst="rect">
            <a:avLst/>
          </a:prstGeom>
          <a:noFill/>
          <a:ln/>
        </p:spPr>
        <p:txBody>
          <a:bodyPr wrap="square" lIns="0" tIns="0" rIns="0" bIns="0" rtlCol="0" anchor="t"/>
          <a:lstStyle/>
          <a:p>
            <a:pPr indent="0" marL="0">
              <a:buNone/>
            </a:pPr>
            <a:r>
              <a:rPr lang="en-US" sz="1400" dirty="0">
                <a:solidFill>
                  <a:schemeClr val="tx1"/>
                </a:solidFill>
              </a:rPr>
              <a:t>Update room temperature with an RC thermal model, then the next minute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Hot evening: 26% lower peak, with every deadline met</a:t>
            </a:r>
            <a:endParaRPr lang="en-US" sz="3200" dirty="0"/>
          </a:p>
        </p:txBody>
      </p:sp>
      <p:graphicFrame>
        <p:nvGraphicFramePr>
          <p:cNvPr id="3" name="Hot evening demand chart" descr="Building demand over the evening, uncoordinated vs PeakPilot, with the 14 kW limit"/>
          <p:cNvGraphicFramePr/>
          <p:nvPr/>
        </p:nvGraphicFramePr>
        <p:xfrm>
          <a:off x="548640" y="1280160"/>
          <a:ext cx="7498080" cy="45262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5852160"/>
            <a:ext cx="7498080" cy="457200"/>
          </a:xfrm>
          <a:prstGeom prst="rect">
            <a:avLst/>
          </a:prstGeom>
          <a:noFill/>
          <a:ln/>
        </p:spPr>
        <p:txBody>
          <a:bodyPr wrap="square" lIns="0" tIns="0" rIns="0" bIns="0" rtlCol="0" anchor="t"/>
          <a:lstStyle/>
          <a:p>
            <a:pPr indent="0" marL="0">
              <a:buNone/>
            </a:pPr>
            <a:r>
              <a:rPr lang="en-US" sz="1100" dirty="0">
                <a:solidFill>
                  <a:schemeClr val="accent4"/>
                </a:solidFill>
              </a:rPr>
              <a:t>15-minute maximum of simulated building demand, 16:00 → 08:00. EV (30 kWh) and water heater (9 kWh) are fully delivered in both runs.</a:t>
            </a:r>
            <a:endParaRPr lang="en-US" sz="1100" dirty="0"/>
          </a:p>
        </p:txBody>
      </p:sp>
      <p:sp>
        <p:nvSpPr>
          <p:cNvPr id="5" name="Text 2"/>
          <p:cNvSpPr txBox="1"/>
          <p:nvPr/>
        </p:nvSpPr>
        <p:spPr>
          <a:xfrm>
            <a:off x="8458200" y="1325880"/>
            <a:ext cx="3200400" cy="640080"/>
          </a:xfrm>
          <a:prstGeom prst="rect">
            <a:avLst/>
          </a:prstGeom>
          <a:noFill/>
          <a:ln/>
        </p:spPr>
        <p:txBody>
          <a:bodyPr wrap="square" lIns="0" tIns="0" rIns="0" bIns="0" rtlCol="0" anchor="t"/>
          <a:lstStyle/>
          <a:p>
            <a:pPr indent="0" marL="0">
              <a:buNone/>
            </a:pPr>
            <a:r>
              <a:rPr lang="en-US" sz="3600" b="1" dirty="0">
                <a:solidFill>
                  <a:schemeClr val="accent1"/>
                </a:solidFill>
                <a:latin typeface="Arial" pitchFamily="34" charset="0"/>
                <a:ea typeface="Arial" pitchFamily="34" charset="-122"/>
                <a:cs typeface="Arial" pitchFamily="34" charset="-120"/>
              </a:rPr>
              <a:t>−26%</a:t>
            </a:r>
            <a:endParaRPr lang="en-US" sz="3600" dirty="0"/>
          </a:p>
        </p:txBody>
      </p:sp>
      <p:sp>
        <p:nvSpPr>
          <p:cNvPr id="6" name="Text 3"/>
          <p:cNvSpPr txBox="1"/>
          <p:nvPr/>
        </p:nvSpPr>
        <p:spPr>
          <a:xfrm>
            <a:off x="8458200" y="1947672"/>
            <a:ext cx="3200400" cy="411480"/>
          </a:xfrm>
          <a:prstGeom prst="rect">
            <a:avLst/>
          </a:prstGeom>
          <a:noFill/>
          <a:ln/>
        </p:spPr>
        <p:txBody>
          <a:bodyPr wrap="square" lIns="0" tIns="0" rIns="0" bIns="0" rtlCol="0" anchor="t"/>
          <a:lstStyle/>
          <a:p>
            <a:pPr indent="0" marL="0">
              <a:buNone/>
            </a:pPr>
            <a:r>
              <a:rPr lang="en-US" sz="1300" dirty="0">
                <a:solidFill>
                  <a:schemeClr val="accent4"/>
                </a:solidFill>
              </a:rPr>
              <a:t>peak demand  (19.0 → 14.0 kW)</a:t>
            </a:r>
            <a:endParaRPr lang="en-US" sz="1300" dirty="0"/>
          </a:p>
        </p:txBody>
      </p:sp>
      <p:sp>
        <p:nvSpPr>
          <p:cNvPr id="7" name="Text 4"/>
          <p:cNvSpPr txBox="1"/>
          <p:nvPr/>
        </p:nvSpPr>
        <p:spPr>
          <a:xfrm>
            <a:off x="8458200" y="2514600"/>
            <a:ext cx="3200400" cy="640080"/>
          </a:xfrm>
          <a:prstGeom prst="rect">
            <a:avLst/>
          </a:prstGeom>
          <a:noFill/>
          <a:ln/>
        </p:spPr>
        <p:txBody>
          <a:bodyPr wrap="square" lIns="0" tIns="0" rIns="0" bIns="0" rtlCol="0" anchor="t"/>
          <a:lstStyle/>
          <a:p>
            <a:pPr indent="0" marL="0">
              <a:buNone/>
            </a:pPr>
            <a:r>
              <a:rPr lang="en-US" sz="3600" b="1" dirty="0">
                <a:solidFill>
                  <a:schemeClr val="accent1"/>
                </a:solidFill>
                <a:latin typeface="Arial" pitchFamily="34" charset="0"/>
                <a:ea typeface="Arial" pitchFamily="34" charset="-122"/>
                <a:cs typeface="Arial" pitchFamily="34" charset="-120"/>
              </a:rPr>
              <a:t>0 min</a:t>
            </a:r>
            <a:endParaRPr lang="en-US" sz="3600" dirty="0"/>
          </a:p>
        </p:txBody>
      </p:sp>
      <p:sp>
        <p:nvSpPr>
          <p:cNvPr id="8" name="Text 5"/>
          <p:cNvSpPr txBox="1"/>
          <p:nvPr/>
        </p:nvSpPr>
        <p:spPr>
          <a:xfrm>
            <a:off x="8458200" y="3136392"/>
            <a:ext cx="3200400" cy="411480"/>
          </a:xfrm>
          <a:prstGeom prst="rect">
            <a:avLst/>
          </a:prstGeom>
          <a:noFill/>
          <a:ln/>
        </p:spPr>
        <p:txBody>
          <a:bodyPr wrap="square" lIns="0" tIns="0" rIns="0" bIns="0" rtlCol="0" anchor="t"/>
          <a:lstStyle/>
          <a:p>
            <a:pPr indent="0" marL="0">
              <a:buNone/>
            </a:pPr>
            <a:r>
              <a:rPr lang="en-US" sz="1300" dirty="0">
                <a:solidFill>
                  <a:schemeClr val="accent4"/>
                </a:solidFill>
              </a:rPr>
              <a:t>over the limit  (vs 180 uncoordinated)</a:t>
            </a:r>
            <a:endParaRPr lang="en-US" sz="1300" dirty="0"/>
          </a:p>
        </p:txBody>
      </p:sp>
      <p:sp>
        <p:nvSpPr>
          <p:cNvPr id="9" name="Text 6"/>
          <p:cNvSpPr txBox="1"/>
          <p:nvPr/>
        </p:nvSpPr>
        <p:spPr>
          <a:xfrm>
            <a:off x="8458200" y="3703320"/>
            <a:ext cx="3200400" cy="640080"/>
          </a:xfrm>
          <a:prstGeom prst="rect">
            <a:avLst/>
          </a:prstGeom>
          <a:noFill/>
          <a:ln/>
        </p:spPr>
        <p:txBody>
          <a:bodyPr wrap="square" lIns="0" tIns="0" rIns="0" bIns="0" rtlCol="0" anchor="t"/>
          <a:lstStyle/>
          <a:p>
            <a:pPr indent="0" marL="0">
              <a:buNone/>
            </a:pPr>
            <a:r>
              <a:rPr lang="en-US" sz="3600" b="1" dirty="0">
                <a:solidFill>
                  <a:schemeClr val="tx2"/>
                </a:solidFill>
                <a:latin typeface="Arial" pitchFamily="34" charset="0"/>
                <a:ea typeface="Arial" pitchFamily="34" charset="-122"/>
                <a:cs typeface="Arial" pitchFamily="34" charset="-120"/>
              </a:rPr>
              <a:t>2 / 2</a:t>
            </a:r>
            <a:endParaRPr lang="en-US" sz="3600" dirty="0"/>
          </a:p>
        </p:txBody>
      </p:sp>
      <p:sp>
        <p:nvSpPr>
          <p:cNvPr id="10" name="Text 7"/>
          <p:cNvSpPr txBox="1"/>
          <p:nvPr/>
        </p:nvSpPr>
        <p:spPr>
          <a:xfrm>
            <a:off x="8458200" y="4325112"/>
            <a:ext cx="3200400" cy="411480"/>
          </a:xfrm>
          <a:prstGeom prst="rect">
            <a:avLst/>
          </a:prstGeom>
          <a:noFill/>
          <a:ln/>
        </p:spPr>
        <p:txBody>
          <a:bodyPr wrap="square" lIns="0" tIns="0" rIns="0" bIns="0" rtlCol="0" anchor="t"/>
          <a:lstStyle/>
          <a:p>
            <a:pPr indent="0" marL="0">
              <a:buNone/>
            </a:pPr>
            <a:r>
              <a:rPr lang="en-US" sz="1300" dirty="0">
                <a:solidFill>
                  <a:schemeClr val="accent4"/>
                </a:solidFill>
              </a:rPr>
              <a:t>deadlines met in both runs</a:t>
            </a:r>
            <a:endParaRPr lang="en-US" sz="1300" dirty="0"/>
          </a:p>
        </p:txBody>
      </p:sp>
      <p:sp>
        <p:nvSpPr>
          <p:cNvPr id="11" name="Text 8"/>
          <p:cNvSpPr txBox="1"/>
          <p:nvPr/>
        </p:nvSpPr>
        <p:spPr>
          <a:xfrm>
            <a:off x="8458200" y="4892040"/>
            <a:ext cx="3200400" cy="640080"/>
          </a:xfrm>
          <a:prstGeom prst="rect">
            <a:avLst/>
          </a:prstGeom>
          <a:noFill/>
          <a:ln/>
        </p:spPr>
        <p:txBody>
          <a:bodyPr wrap="square" lIns="0" tIns="0" rIns="0" bIns="0" rtlCol="0" anchor="t"/>
          <a:lstStyle/>
          <a:p>
            <a:pPr indent="0" marL="0">
              <a:buNone/>
            </a:pPr>
            <a:r>
              <a:rPr lang="en-US" sz="3600" b="1" dirty="0">
                <a:solidFill>
                  <a:schemeClr val="tx2"/>
                </a:solidFill>
                <a:latin typeface="Arial" pitchFamily="34" charset="0"/>
                <a:ea typeface="Arial" pitchFamily="34" charset="-122"/>
                <a:cs typeface="Arial" pitchFamily="34" charset="-120"/>
              </a:rPr>
              <a:t>24.5 °C</a:t>
            </a:r>
            <a:endParaRPr lang="en-US" sz="3600" dirty="0"/>
          </a:p>
        </p:txBody>
      </p:sp>
      <p:sp>
        <p:nvSpPr>
          <p:cNvPr id="12" name="Text 9"/>
          <p:cNvSpPr txBox="1"/>
          <p:nvPr/>
        </p:nvSpPr>
        <p:spPr>
          <a:xfrm>
            <a:off x="8458200" y="5513832"/>
            <a:ext cx="3200400" cy="411480"/>
          </a:xfrm>
          <a:prstGeom prst="rect">
            <a:avLst/>
          </a:prstGeom>
          <a:noFill/>
          <a:ln/>
        </p:spPr>
        <p:txBody>
          <a:bodyPr wrap="square" lIns="0" tIns="0" rIns="0" bIns="0" rtlCol="0" anchor="t"/>
          <a:lstStyle/>
          <a:p>
            <a:pPr indent="0" marL="0">
              <a:buNone/>
            </a:pPr>
            <a:r>
              <a:rPr lang="en-US" sz="1300" dirty="0">
                <a:solidFill>
                  <a:schemeClr val="accent4"/>
                </a:solidFill>
              </a:rPr>
              <a:t>hottest room  (vs 25.3 °C, limit 25 °C)</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Four scenarios, reported as they come out</a:t>
            </a:r>
            <a:endParaRPr lang="en-US" sz="3200" dirty="0"/>
          </a:p>
        </p:txBody>
      </p:sp>
      <p:graphicFrame>
        <p:nvGraphicFramePr>
          <p:cNvPr id="8" name="Scenario results table"/>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63240"/>
                <a:gridCol w="2514600"/>
                <a:gridCol w="1188720"/>
                <a:gridCol w="1783080"/>
                <a:gridCol w="1280160"/>
                <a:gridCol w="1261872"/>
              </a:tblGrid>
              <a:tr h="548640">
                <a:tc>
                  <a:txBody>
                    <a:bodyPr/>
                    <a:lstStyle/>
                    <a:p>
                      <a:pPr indent="0" marL="0">
                        <a:buNone/>
                      </a:pPr>
                      <a:r>
                        <a:rPr lang="en-US" sz="1400" b="1" dirty="0">
                          <a:solidFill>
                            <a:schemeClr val="bg1"/>
                          </a:solidFill>
                        </a:rPr>
                        <a:t>Scenario (SIMULATED)</a:t>
                      </a:r>
                      <a:endParaRPr lang="en-US" sz="1400" dirty="0"/>
                    </a:p>
                  </a:txBody>
                  <a:tcPr marL="109728" marR="109728" marT="0" marB="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Peak: uncoordinated → PeakPilot</a:t>
                      </a:r>
                      <a:endParaRPr lang="en-US" sz="1400" dirty="0"/>
                    </a:p>
                  </a:txBody>
                  <a:tcPr marL="109728" marR="109728" marT="0" marB="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Peak cut</a:t>
                      </a:r>
                      <a:endParaRPr lang="en-US" sz="1400" dirty="0"/>
                    </a:p>
                  </a:txBody>
                  <a:tcPr marL="109728" marR="109728" marT="0" marB="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Minutes over limit</a:t>
                      </a:r>
                      <a:endParaRPr lang="en-US" sz="1400" dirty="0"/>
                    </a:p>
                  </a:txBody>
                  <a:tcPr marL="109728" marR="109728" marT="0" marB="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Deadlines met</a:t>
                      </a:r>
                      <a:endParaRPr lang="en-US" sz="1400" dirty="0"/>
                    </a:p>
                  </a:txBody>
                  <a:tcPr marL="109728" marR="109728" marT="0" marB="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Room &gt; 25 °C</a:t>
                      </a:r>
                      <a:endParaRPr lang="en-US" sz="1400" dirty="0"/>
                    </a:p>
                  </a:txBody>
                  <a:tcPr marL="109728" marR="109728" marT="0" marB="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chemeClr val="tx2"/>
                    </a:solidFill>
                  </a:tcPr>
                </a:tc>
              </a:tr>
              <a:tr h="566928">
                <a:tc>
                  <a:txBody>
                    <a:bodyPr/>
                    <a:lstStyle/>
                    <a:p>
                      <a:pPr indent="0" marL="0">
                        <a:buNone/>
                      </a:pPr>
                      <a:r>
                        <a:rPr lang="en-US" sz="1400" b="1" dirty="0">
                          <a:solidFill>
                            <a:schemeClr val="tx1"/>
                          </a:solidFill>
                        </a:rPr>
                        <a:t>Hot evening, 14 kW limit</a:t>
                      </a:r>
                      <a:endParaRPr lang="en-US" sz="1400" dirty="0"/>
                    </a:p>
                  </a:txBody>
                  <a:tcPr marL="109728" marR="109728" marT="0" marB="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19.0 → 14.0 kW</a:t>
                      </a:r>
                      <a:endParaRPr lang="en-US" sz="1400" dirty="0"/>
                    </a:p>
                  </a:txBody>
                  <a:tcPr marL="109728" marR="109728" marT="0" marB="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400" b="1" dirty="0">
                          <a:solidFill>
                            <a:schemeClr val="accent1"/>
                          </a:solidFill>
                        </a:rPr>
                        <a:t>26%</a:t>
                      </a:r>
                      <a:endParaRPr lang="en-US" sz="1400" dirty="0"/>
                    </a:p>
                  </a:txBody>
                  <a:tcPr marL="109728" marR="109728" marT="0" marB="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400" b="1" dirty="0">
                          <a:solidFill>
                            <a:schemeClr val="accent1"/>
                          </a:solidFill>
                        </a:rPr>
                        <a:t>180 → 0</a:t>
                      </a:r>
                      <a:endParaRPr lang="en-US" sz="1400" dirty="0"/>
                    </a:p>
                  </a:txBody>
                  <a:tcPr marL="109728" marR="109728" marT="0" marB="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2 / 2</a:t>
                      </a:r>
                      <a:endParaRPr lang="en-US" sz="1400" dirty="0"/>
                    </a:p>
                  </a:txBody>
                  <a:tcPr marL="109728" marR="109728" marT="0" marB="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19 → 0 min</a:t>
                      </a:r>
                      <a:endParaRPr lang="en-US" sz="1400" dirty="0"/>
                    </a:p>
                  </a:txBody>
                  <a:tcPr marL="109728" marR="109728" marT="0" marB="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chemeClr val="tx1"/>
                          </a:solidFill>
                        </a:rPr>
                        <a:t>Tight limit, 11 kW</a:t>
                      </a:r>
                      <a:endParaRPr lang="en-US" sz="1400" dirty="0"/>
                    </a:p>
                  </a:txBody>
                  <a:tcPr marL="109728" marR="109728" marT="0" marB="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19.0 → 11.0 kW</a:t>
                      </a:r>
                      <a:endParaRPr lang="en-US" sz="1400" dirty="0"/>
                    </a:p>
                  </a:txBody>
                  <a:tcPr marL="109728" marR="109728" marT="0" marB="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400" b="1" dirty="0">
                          <a:solidFill>
                            <a:schemeClr val="accent1"/>
                          </a:solidFill>
                        </a:rPr>
                        <a:t>42%</a:t>
                      </a:r>
                      <a:endParaRPr lang="en-US" sz="1400" dirty="0"/>
                    </a:p>
                  </a:txBody>
                  <a:tcPr marL="109728" marR="109728" marT="0" marB="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400" b="1" dirty="0">
                          <a:solidFill>
                            <a:schemeClr val="accent1"/>
                          </a:solidFill>
                        </a:rPr>
                        <a:t>250 → 0</a:t>
                      </a:r>
                      <a:endParaRPr lang="en-US" sz="1400" dirty="0"/>
                    </a:p>
                  </a:txBody>
                  <a:tcPr marL="109728" marR="109728" marT="0" marB="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2 / 2</a:t>
                      </a:r>
                      <a:endParaRPr lang="en-US" sz="1400" dirty="0"/>
                    </a:p>
                  </a:txBody>
                  <a:tcPr marL="109728" marR="109728" marT="0" marB="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19 → 0 min</a:t>
                      </a:r>
                      <a:endParaRPr lang="en-US" sz="1400" dirty="0"/>
                    </a:p>
                  </a:txBody>
                  <a:tcPr marL="109728" marR="109728" marT="0" marB="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chemeClr val="tx1"/>
                          </a:solidFill>
                        </a:rPr>
                        <a:t>EV offline 18:00–18:45</a:t>
                      </a:r>
                      <a:endParaRPr lang="en-US" sz="1400" dirty="0"/>
                    </a:p>
                  </a:txBody>
                  <a:tcPr marL="109728" marR="109728" marT="0" marB="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19.0 → 14.3 kW</a:t>
                      </a:r>
                      <a:endParaRPr lang="en-US" sz="1400" dirty="0"/>
                    </a:p>
                  </a:txBody>
                  <a:tcPr marL="109728" marR="109728" marT="0" marB="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25%</a:t>
                      </a:r>
                      <a:endParaRPr lang="en-US" sz="1400" dirty="0"/>
                    </a:p>
                  </a:txBody>
                  <a:tcPr marL="109728" marR="109728" marT="0" marB="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400" b="1" dirty="0">
                          <a:solidFill>
                            <a:schemeClr val="accent2"/>
                          </a:solidFill>
                        </a:rPr>
                        <a:t>180 → 25</a:t>
                      </a:r>
                      <a:endParaRPr lang="en-US" sz="1400" dirty="0"/>
                    </a:p>
                  </a:txBody>
                  <a:tcPr marL="109728" marR="109728" marT="0" marB="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2 / 2</a:t>
                      </a:r>
                      <a:endParaRPr lang="en-US" sz="1400" dirty="0"/>
                    </a:p>
                  </a:txBody>
                  <a:tcPr marL="109728" marR="109728" marT="0" marB="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19 → 0 min</a:t>
                      </a:r>
                      <a:endParaRPr lang="en-US" sz="1400" dirty="0"/>
                    </a:p>
                  </a:txBody>
                  <a:tcPr marL="109728" marR="109728" marT="0" marB="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chemeClr val="tx1"/>
                          </a:solidFill>
                        </a:rPr>
                        <a:t>Infeasible: 8 kW, 40 kWh EV due 23:00</a:t>
                      </a:r>
                      <a:endParaRPr lang="en-US" sz="1400" dirty="0"/>
                    </a:p>
                  </a:txBody>
                  <a:tcPr marL="109728" marR="109728" marT="0" marB="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19.1 → 14.9 kW</a:t>
                      </a:r>
                      <a:endParaRPr lang="en-US" sz="1400" dirty="0"/>
                    </a:p>
                  </a:txBody>
                  <a:tcPr marL="109728" marR="109728" marT="0" marB="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22%</a:t>
                      </a:r>
                      <a:endParaRPr lang="en-US" sz="1400" dirty="0"/>
                    </a:p>
                  </a:txBody>
                  <a:tcPr marL="109728" marR="109728" marT="0" marB="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400" b="1" dirty="0">
                          <a:solidFill>
                            <a:schemeClr val="accent2"/>
                          </a:solidFill>
                        </a:rPr>
                        <a:t>334 → 291</a:t>
                      </a:r>
                      <a:endParaRPr lang="en-US" sz="1400" dirty="0"/>
                    </a:p>
                  </a:txBody>
                  <a:tcPr marL="109728" marR="109728" marT="0" marB="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2 / 2</a:t>
                      </a:r>
                      <a:endParaRPr lang="en-US" sz="1400" dirty="0"/>
                    </a:p>
                  </a:txBody>
                  <a:tcPr marL="109728" marR="109728" marT="0" marB="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25 → 0 min</a:t>
                      </a:r>
                      <a:endParaRPr lang="en-US" sz="1400" dirty="0"/>
                    </a:p>
                  </a:txBody>
                  <a:tcPr marL="109728" marR="109728" marT="0" marB="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r>
            </a:tbl>
          </a:graphicData>
        </a:graphic>
      </p:graphicFrame>
      <p:sp>
        <p:nvSpPr>
          <p:cNvPr id="4" name="Same-work note card"/>
          <p:cNvSpPr/>
          <p:nvPr/>
        </p:nvSpPr>
        <p:spPr>
          <a:xfrm>
            <a:off x="548640" y="4572000"/>
            <a:ext cx="11094415" cy="1417320"/>
          </a:xfrm>
          <a:prstGeom prst="roundRect">
            <a:avLst>
              <a:gd name="adj" fmla="val 7742"/>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5" name="Same work check circle"/>
          <p:cNvSpPr/>
          <p:nvPr/>
        </p:nvSpPr>
        <p:spPr>
          <a:xfrm>
            <a:off x="868680" y="4892040"/>
            <a:ext cx="777240" cy="777240"/>
          </a:xfrm>
          <a:prstGeom prst="ellipse">
            <a:avLst/>
          </a:prstGeom>
          <a:solidFill>
            <a:schemeClr val="accent1"/>
          </a:solidFill>
          <a:ln w="12700">
            <a:solidFill>
              <a:schemeClr val="accent1"/>
            </a:solidFill>
            <a:prstDash val="solid"/>
          </a:ln>
        </p:spPr>
      </p:sp>
      <p:pic>
        <p:nvPicPr>
          <p:cNvPr id="6" name="Same work check icon" descr="Same work check">    </p:cNvPr>
          <p:cNvPicPr>
            <a:picLocks noChangeAspect="1"/>
          </p:cNvPicPr>
          <p:nvPr/>
        </p:nvPicPr>
        <p:blipFill>
          <a:blip r:embed="rId1"/>
          <a:stretch>
            <a:fillRect/>
          </a:stretch>
        </p:blipFill>
        <p:spPr>
          <a:xfrm>
            <a:off x="1070762" y="5094122"/>
            <a:ext cx="373075" cy="373075"/>
          </a:xfrm>
          <a:prstGeom prst="rect">
            <a:avLst/>
          </a:prstGeom>
        </p:spPr>
      </p:pic>
      <p:sp>
        <p:nvSpPr>
          <p:cNvPr id="7" name="Text 3"/>
          <p:cNvSpPr txBox="1"/>
          <p:nvPr/>
        </p:nvSpPr>
        <p:spPr>
          <a:xfrm>
            <a:off x="1874520" y="4709160"/>
            <a:ext cx="9448495" cy="1143000"/>
          </a:xfrm>
          <a:prstGeom prst="rect">
            <a:avLst/>
          </a:prstGeom>
          <a:noFill/>
          <a:ln/>
        </p:spPr>
        <p:txBody>
          <a:bodyPr wrap="square" lIns="0" tIns="0" rIns="0" bIns="0" rtlCol="0" anchor="ctr"/>
          <a:lstStyle/>
          <a:p>
            <a:pPr indent="0" marL="0">
              <a:buNone/>
            </a:pPr>
            <a:r>
              <a:rPr lang="en-US" sz="1500" b="1" dirty="0">
                <a:solidFill>
                  <a:schemeClr val="tx2"/>
                </a:solidFill>
              </a:rPr>
              <a:t>Same work in both runs. </a:t>
            </a:r>
            <a:pPr indent="0" marL="0">
              <a:buNone/>
            </a:pPr>
            <a:r>
              <a:rPr lang="en-US" sz="1500" dirty="0">
                <a:solidFill>
                  <a:schemeClr val="tx1"/>
                </a:solidFill>
              </a:rPr>
              <a:t>EV and water-heater energy is identical every time. Where the limit still breaks (offline device, impossible deadline), PeakPilot reports the minutes instead of hiding them — a lower peak bought by dropping work would count as a failure.</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When the limit can't hold, PeakPilot says so</a:t>
            </a:r>
            <a:endParaRPr lang="en-US" sz="3200" dirty="0"/>
          </a:p>
        </p:txBody>
      </p:sp>
      <p:sp>
        <p:nvSpPr>
          <p:cNvPr id="3" name="A device drops offline card"/>
          <p:cNvSpPr/>
          <p:nvPr/>
        </p:nvSpPr>
        <p:spPr>
          <a:xfrm>
            <a:off x="548640" y="1417320"/>
            <a:ext cx="5318608" cy="4526280"/>
          </a:xfrm>
          <a:prstGeom prst="roundRect">
            <a:avLst>
              <a:gd name="adj" fmla="val 2424"/>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A device drops offline circle"/>
          <p:cNvSpPr/>
          <p:nvPr/>
        </p:nvSpPr>
        <p:spPr>
          <a:xfrm>
            <a:off x="868680" y="1737360"/>
            <a:ext cx="731520" cy="731520"/>
          </a:xfrm>
          <a:prstGeom prst="ellipse">
            <a:avLst/>
          </a:prstGeom>
          <a:solidFill>
            <a:schemeClr val="accent3"/>
          </a:solidFill>
          <a:ln w="12700">
            <a:solidFill>
              <a:schemeClr val="accent3"/>
            </a:solidFill>
            <a:prstDash val="solid"/>
          </a:ln>
        </p:spPr>
      </p:sp>
      <p:pic>
        <p:nvPicPr>
          <p:cNvPr id="5" name="A device drops offline icon" descr="A device drops offline">    </p:cNvPr>
          <p:cNvPicPr>
            <a:picLocks noChangeAspect="1"/>
          </p:cNvPicPr>
          <p:nvPr/>
        </p:nvPicPr>
        <p:blipFill>
          <a:blip r:embed="rId1"/>
          <a:stretch>
            <a:fillRect/>
          </a:stretch>
        </p:blipFill>
        <p:spPr>
          <a:xfrm>
            <a:off x="1058875" y="1927555"/>
            <a:ext cx="351130" cy="351130"/>
          </a:xfrm>
          <a:prstGeom prst="rect">
            <a:avLst/>
          </a:prstGeom>
        </p:spPr>
      </p:pic>
      <p:sp>
        <p:nvSpPr>
          <p:cNvPr id="6" name="Text 3"/>
          <p:cNvSpPr txBox="1"/>
          <p:nvPr/>
        </p:nvSpPr>
        <p:spPr>
          <a:xfrm>
            <a:off x="1783080" y="1828800"/>
            <a:ext cx="3855568" cy="548640"/>
          </a:xfrm>
          <a:prstGeom prst="rect">
            <a:avLst/>
          </a:prstGeom>
          <a:noFill/>
          <a:ln/>
        </p:spPr>
        <p:txBody>
          <a:bodyPr wrap="square" lIns="0" tIns="0" rIns="0" bIns="0" rtlCol="0" anchor="ctr"/>
          <a:lstStyle/>
          <a:p>
            <a:pPr indent="0" marL="0">
              <a:buNone/>
            </a:pPr>
            <a:r>
              <a:rPr lang="en-US" sz="2200" b="1" dirty="0">
                <a:solidFill>
                  <a:schemeClr val="tx2"/>
                </a:solidFill>
              </a:rPr>
              <a:t>A device drops offline</a:t>
            </a:r>
            <a:endParaRPr lang="en-US" sz="2200" dirty="0"/>
          </a:p>
        </p:txBody>
      </p:sp>
      <p:sp>
        <p:nvSpPr>
          <p:cNvPr id="7" name="Text 4"/>
          <p:cNvSpPr txBox="1"/>
          <p:nvPr/>
        </p:nvSpPr>
        <p:spPr>
          <a:xfrm>
            <a:off x="868680" y="2697480"/>
            <a:ext cx="4678528" cy="1188720"/>
          </a:xfrm>
          <a:prstGeom prst="rect">
            <a:avLst/>
          </a:prstGeom>
          <a:noFill/>
          <a:ln/>
        </p:spPr>
        <p:txBody>
          <a:bodyPr wrap="square" lIns="0" tIns="0" rIns="0" bIns="0" rtlCol="0" anchor="t"/>
          <a:lstStyle/>
          <a:p>
            <a:pPr indent="0" marL="0">
              <a:buNone/>
            </a:pPr>
            <a:r>
              <a:rPr lang="en-US" sz="1500" dirty="0">
                <a:solidFill>
                  <a:schemeClr val="tx1"/>
                </a:solidFill>
              </a:rPr>
              <a:t>The controller can't command the EV charger, so it assumes the charger keeps its last power, reserves that headroom and plans around it.</a:t>
            </a:r>
            <a:endParaRPr lang="en-US" sz="1500" dirty="0"/>
          </a:p>
        </p:txBody>
      </p:sp>
      <p:sp>
        <p:nvSpPr>
          <p:cNvPr id="8" name="A device drops offline log"/>
          <p:cNvSpPr/>
          <p:nvPr/>
        </p:nvSpPr>
        <p:spPr>
          <a:xfrm>
            <a:off x="868680" y="3977640"/>
            <a:ext cx="4678528" cy="1051560"/>
          </a:xfrm>
          <a:prstGeom prst="roundRect">
            <a:avLst>
              <a:gd name="adj" fmla="val 6957"/>
            </a:avLst>
          </a:prstGeom>
          <a:solidFill>
            <a:schemeClr val="tx2"/>
          </a:solidFill>
          <a:ln w="12700">
            <a:solidFill>
              <a:schemeClr val="tx2"/>
            </a:solidFill>
            <a:prstDash val="solid"/>
          </a:ln>
        </p:spPr>
      </p:sp>
      <p:sp>
        <p:nvSpPr>
          <p:cNvPr id="9" name="Text 6"/>
          <p:cNvSpPr txBox="1"/>
          <p:nvPr/>
        </p:nvSpPr>
        <p:spPr>
          <a:xfrm>
            <a:off x="1051560" y="4069080"/>
            <a:ext cx="4312768" cy="868680"/>
          </a:xfrm>
          <a:prstGeom prst="rect">
            <a:avLst/>
          </a:prstGeom>
          <a:noFill/>
          <a:ln/>
        </p:spPr>
        <p:txBody>
          <a:bodyPr wrap="square" lIns="0" tIns="0" rIns="0" bIns="0" rtlCol="0" anchor="ctr"/>
          <a:lstStyle/>
          <a:p>
            <a:pPr indent="0" marL="0">
              <a:buNone/>
            </a:pPr>
            <a:r>
              <a:rPr lang="en-US" sz="1300" dirty="0">
                <a:solidFill>
                  <a:schemeClr val="bg1"/>
                </a:solidFill>
                <a:latin typeface="Courier New" pitchFamily="34" charset="0"/>
                <a:ea typeface="Courier New" pitchFamily="34" charset="-122"/>
                <a:cs typeface="Courier New" pitchFamily="34" charset="-120"/>
              </a:rPr>
              <a:t>18:00  ev-1  OFFLINE — holding last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power 6.6 kW, reserving headroom</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18:45  ev-1  reconnected; resuming control</a:t>
            </a:r>
            <a:endParaRPr lang="en-US" sz="1300" dirty="0"/>
          </a:p>
        </p:txBody>
      </p:sp>
      <p:sp>
        <p:nvSpPr>
          <p:cNvPr id="10" name="Text 7"/>
          <p:cNvSpPr txBox="1"/>
          <p:nvPr/>
        </p:nvSpPr>
        <p:spPr>
          <a:xfrm>
            <a:off x="868680" y="5257800"/>
            <a:ext cx="4678528" cy="457200"/>
          </a:xfrm>
          <a:prstGeom prst="rect">
            <a:avLst/>
          </a:prstGeom>
          <a:noFill/>
          <a:ln/>
        </p:spPr>
        <p:txBody>
          <a:bodyPr wrap="square" lIns="0" tIns="0" rIns="0" bIns="0" rtlCol="0" anchor="t"/>
          <a:lstStyle/>
          <a:p>
            <a:pPr indent="0" marL="0">
              <a:buNone/>
            </a:pPr>
            <a:r>
              <a:rPr lang="en-US" sz="1600" b="1" dirty="0">
                <a:solidFill>
                  <a:schemeClr val="accent3"/>
                </a:solidFill>
              </a:rPr>
              <a:t>Result: 25 min over the limit — disclosed</a:t>
            </a:r>
            <a:endParaRPr lang="en-US" sz="1600" dirty="0"/>
          </a:p>
        </p:txBody>
      </p:sp>
      <p:sp>
        <p:nvSpPr>
          <p:cNvPr id="11" name="The limit is impossible card"/>
          <p:cNvSpPr/>
          <p:nvPr/>
        </p:nvSpPr>
        <p:spPr>
          <a:xfrm>
            <a:off x="6324448" y="1417320"/>
            <a:ext cx="5318608" cy="4526280"/>
          </a:xfrm>
          <a:prstGeom prst="roundRect">
            <a:avLst>
              <a:gd name="adj" fmla="val 2424"/>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2" name="The limit is impossible circle"/>
          <p:cNvSpPr/>
          <p:nvPr/>
        </p:nvSpPr>
        <p:spPr>
          <a:xfrm>
            <a:off x="6644488" y="1737360"/>
            <a:ext cx="731520" cy="731520"/>
          </a:xfrm>
          <a:prstGeom prst="ellipse">
            <a:avLst/>
          </a:prstGeom>
          <a:solidFill>
            <a:schemeClr val="accent2"/>
          </a:solidFill>
          <a:ln w="12700">
            <a:solidFill>
              <a:schemeClr val="accent2"/>
            </a:solidFill>
            <a:prstDash val="solid"/>
          </a:ln>
        </p:spPr>
      </p:sp>
      <p:pic>
        <p:nvPicPr>
          <p:cNvPr id="13" name="The limit is impossible icon" descr="The limit is impossible">    </p:cNvPr>
          <p:cNvPicPr>
            <a:picLocks noChangeAspect="1"/>
          </p:cNvPicPr>
          <p:nvPr/>
        </p:nvPicPr>
        <p:blipFill>
          <a:blip r:embed="rId2"/>
          <a:stretch>
            <a:fillRect/>
          </a:stretch>
        </p:blipFill>
        <p:spPr>
          <a:xfrm>
            <a:off x="6834683" y="1927555"/>
            <a:ext cx="351130" cy="351130"/>
          </a:xfrm>
          <a:prstGeom prst="rect">
            <a:avLst/>
          </a:prstGeom>
        </p:spPr>
      </p:pic>
      <p:sp>
        <p:nvSpPr>
          <p:cNvPr id="14" name="Text 10"/>
          <p:cNvSpPr txBox="1"/>
          <p:nvPr/>
        </p:nvSpPr>
        <p:spPr>
          <a:xfrm>
            <a:off x="7558888" y="1828800"/>
            <a:ext cx="3855568" cy="548640"/>
          </a:xfrm>
          <a:prstGeom prst="rect">
            <a:avLst/>
          </a:prstGeom>
          <a:noFill/>
          <a:ln/>
        </p:spPr>
        <p:txBody>
          <a:bodyPr wrap="square" lIns="0" tIns="0" rIns="0" bIns="0" rtlCol="0" anchor="ctr"/>
          <a:lstStyle/>
          <a:p>
            <a:pPr indent="0" marL="0">
              <a:buNone/>
            </a:pPr>
            <a:r>
              <a:rPr lang="en-US" sz="2200" b="1" dirty="0">
                <a:solidFill>
                  <a:schemeClr val="tx2"/>
                </a:solidFill>
              </a:rPr>
              <a:t>The limit is impossible</a:t>
            </a:r>
            <a:endParaRPr lang="en-US" sz="2200" dirty="0"/>
          </a:p>
        </p:txBody>
      </p:sp>
      <p:sp>
        <p:nvSpPr>
          <p:cNvPr id="15" name="Text 11"/>
          <p:cNvSpPr txBox="1"/>
          <p:nvPr/>
        </p:nvSpPr>
        <p:spPr>
          <a:xfrm>
            <a:off x="6644488" y="2697480"/>
            <a:ext cx="4678528" cy="1188720"/>
          </a:xfrm>
          <a:prstGeom prst="rect">
            <a:avLst/>
          </a:prstGeom>
          <a:noFill/>
          <a:ln/>
        </p:spPr>
        <p:txBody>
          <a:bodyPr wrap="square" lIns="0" tIns="0" rIns="0" bIns="0" rtlCol="0" anchor="t"/>
          <a:lstStyle/>
          <a:p>
            <a:pPr indent="0" marL="0">
              <a:buNone/>
            </a:pPr>
            <a:r>
              <a:rPr lang="en-US" sz="1500" dirty="0">
                <a:solidFill>
                  <a:schemeClr val="tx1"/>
                </a:solidFill>
              </a:rPr>
              <a:t>40 kWh into the EV by 23:00 under an 8 kW cap on a 34 °C evening cannot fit. As slack hits zero the EV runs flat out.</a:t>
            </a:r>
            <a:endParaRPr lang="en-US" sz="1500" dirty="0"/>
          </a:p>
        </p:txBody>
      </p:sp>
      <p:sp>
        <p:nvSpPr>
          <p:cNvPr id="16" name="The limit is impossible log"/>
          <p:cNvSpPr/>
          <p:nvPr/>
        </p:nvSpPr>
        <p:spPr>
          <a:xfrm>
            <a:off x="6644488" y="3977640"/>
            <a:ext cx="4678528" cy="1051560"/>
          </a:xfrm>
          <a:prstGeom prst="roundRect">
            <a:avLst>
              <a:gd name="adj" fmla="val 6957"/>
            </a:avLst>
          </a:prstGeom>
          <a:solidFill>
            <a:schemeClr val="tx2"/>
          </a:solidFill>
          <a:ln w="12700">
            <a:solidFill>
              <a:schemeClr val="tx2"/>
            </a:solidFill>
            <a:prstDash val="solid"/>
          </a:ln>
        </p:spPr>
      </p:sp>
      <p:sp>
        <p:nvSpPr>
          <p:cNvPr id="17" name="Text 13"/>
          <p:cNvSpPr txBox="1"/>
          <p:nvPr/>
        </p:nvSpPr>
        <p:spPr>
          <a:xfrm>
            <a:off x="6827368" y="4069080"/>
            <a:ext cx="4312768" cy="868680"/>
          </a:xfrm>
          <a:prstGeom prst="rect">
            <a:avLst/>
          </a:prstGeom>
          <a:noFill/>
          <a:ln/>
        </p:spPr>
        <p:txBody>
          <a:bodyPr wrap="square" lIns="0" tIns="0" rIns="0" bIns="0" rtlCol="0" anchor="ctr"/>
          <a:lstStyle/>
          <a:p>
            <a:pPr indent="0" marL="0">
              <a:buNone/>
            </a:pPr>
            <a:r>
              <a:rPr lang="en-US" sz="1300" dirty="0">
                <a:solidFill>
                  <a:schemeClr val="bg1"/>
                </a:solidFill>
                <a:latin typeface="Courier New" pitchFamily="34" charset="0"/>
                <a:ea typeface="Courier New" pitchFamily="34" charset="-122"/>
                <a:cs typeface="Courier New" pitchFamily="34" charset="-120"/>
              </a:rPr>
              <a:t>18:09  ev-1  deadline forces full</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power — exceeding limit</a:t>
            </a:r>
            <a:endParaRPr lang="en-US" sz="1300" dirty="0"/>
          </a:p>
        </p:txBody>
      </p:sp>
      <p:sp>
        <p:nvSpPr>
          <p:cNvPr id="18" name="Text 14"/>
          <p:cNvSpPr txBox="1"/>
          <p:nvPr/>
        </p:nvSpPr>
        <p:spPr>
          <a:xfrm>
            <a:off x="6644488" y="5257800"/>
            <a:ext cx="4678528" cy="457200"/>
          </a:xfrm>
          <a:prstGeom prst="rect">
            <a:avLst/>
          </a:prstGeom>
          <a:noFill/>
          <a:ln/>
        </p:spPr>
        <p:txBody>
          <a:bodyPr wrap="square" lIns="0" tIns="0" rIns="0" bIns="0" rtlCol="0" anchor="t"/>
          <a:lstStyle/>
          <a:p>
            <a:pPr indent="0" marL="0">
              <a:buNone/>
            </a:pPr>
            <a:r>
              <a:rPr lang="en-US" sz="1600" b="1" dirty="0">
                <a:solidFill>
                  <a:schemeClr val="accent2"/>
                </a:solidFill>
              </a:rPr>
              <a:t>Result: 291 min over, shown in a warning banner</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How close to optimal? A perfect-foresight lower bound</a:t>
            </a:r>
            <a:endParaRPr lang="en-US" sz="3200" dirty="0"/>
          </a:p>
        </p:txBody>
      </p:sp>
      <p:graphicFrame>
        <p:nvGraphicFramePr>
          <p:cNvPr id="3" name="Peak vs LP bound chart" descr="Peak demand per scenario: uncoordinated, PeakPilot, and the LP lower bound"/>
          <p:cNvGraphicFramePr/>
          <p:nvPr/>
        </p:nvGraphicFramePr>
        <p:xfrm>
          <a:off x="548640" y="1280160"/>
          <a:ext cx="6949440" cy="47548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818120" y="1371600"/>
            <a:ext cx="3824935" cy="46634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One linear program over the same 960 one-minute steps, solved with SciPy's HiGHS in ~0.03 s. It must do the same work: every deadline, the offline hold, the room ≤ 25 °C.</a:t>
            </a:r>
            <a:endParaRPr lang="en-US" sz="1500" dirty="0"/>
          </a:p>
          <a:p>
            <a:pPr marL="342900" indent="-342900">
              <a:spcAft>
                <a:spcPts val="1000"/>
              </a:spcAft>
              <a:buSzPct val="100000"/>
              <a:buChar char="•"/>
            </a:pPr>
            <a:r>
              <a:rPr lang="en-US" sz="1500" dirty="0">
                <a:solidFill>
                  <a:schemeClr val="tx1"/>
                </a:solidFill>
              </a:rPr>
              <a:t>A lower bound: it sees the whole evening in advance and lets on/off devices run at any power.</a:t>
            </a:r>
            <a:endParaRPr lang="en-US" sz="1500" dirty="0"/>
          </a:p>
          <a:p>
            <a:pPr marL="342900" indent="-342900">
              <a:spcAft>
                <a:spcPts val="1000"/>
              </a:spcAft>
              <a:buSzPct val="100000"/>
              <a:buChar char="•"/>
            </a:pPr>
            <a:r>
              <a:rPr lang="en-US" sz="1500" dirty="0">
                <a:solidFill>
                  <a:schemeClr val="tx1"/>
                </a:solidFill>
              </a:rPr>
              <a:t>The gap is large on easy limits because PeakPilot aims for the limit you set, not the minimum possible peak.</a:t>
            </a:r>
            <a:endParaRPr lang="en-US" sz="1500" dirty="0"/>
          </a:p>
          <a:p>
            <a:pPr marL="342900" indent="-342900">
              <a:spcAft>
                <a:spcPts val="1000"/>
              </a:spcAft>
              <a:buSzPct val="100000"/>
              <a:buChar char="•"/>
            </a:pPr>
            <a:r>
              <a:rPr lang="en-US" sz="1500" b="1" dirty="0">
                <a:solidFill>
                  <a:schemeClr val="tx1"/>
                </a:solidFill>
              </a:rPr>
              <a:t>At 8 kW the bound is 10.5 kW — proof that no schedule could have held that limit.</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Massachusetts context, kept apart from the simulation</a:t>
            </a:r>
            <a:endParaRPr lang="en-US" sz="3200" dirty="0"/>
          </a:p>
        </p:txBody>
      </p:sp>
      <p:sp>
        <p:nvSpPr>
          <p:cNvPr id="3" name="Journey step 1"/>
          <p:cNvSpPr/>
          <p:nvPr/>
        </p:nvSpPr>
        <p:spPr>
          <a:xfrm>
            <a:off x="548640" y="1417320"/>
            <a:ext cx="2468880" cy="960120"/>
          </a:xfrm>
          <a:prstGeom prst="roundRect">
            <a:avLst>
              <a:gd name="adj" fmla="val 9524"/>
            </a:avLst>
          </a:prstGeom>
          <a:solidFill>
            <a:schemeClr val="accent6"/>
          </a:solidFill>
          <a:ln w="12700">
            <a:solidFill>
              <a:schemeClr val="accent6"/>
            </a:solidFill>
            <a:prstDash val="solid"/>
          </a:ln>
        </p:spPr>
      </p:sp>
      <p:sp>
        <p:nvSpPr>
          <p:cNvPr id="4" name="Text 2"/>
          <p:cNvSpPr txBox="1"/>
          <p:nvPr/>
        </p:nvSpPr>
        <p:spPr>
          <a:xfrm>
            <a:off x="731520" y="1417320"/>
            <a:ext cx="2103120" cy="960120"/>
          </a:xfrm>
          <a:prstGeom prst="rect">
            <a:avLst/>
          </a:prstGeom>
          <a:noFill/>
          <a:ln/>
        </p:spPr>
        <p:txBody>
          <a:bodyPr wrap="square" lIns="0" tIns="0" rIns="0" bIns="0" rtlCol="0" anchor="ctr"/>
          <a:lstStyle/>
          <a:p>
            <a:pPr algn="ctr" indent="0" marL="0">
              <a:buNone/>
            </a:pPr>
            <a:r>
              <a:rPr lang="en-US" sz="1500" b="1" dirty="0">
                <a:solidFill>
                  <a:schemeClr val="bg1"/>
                </a:solidFill>
              </a:rPr>
              <a:t>Pick a town</a:t>
            </a:r>
            <a:endParaRPr lang="en-US" sz="1500" dirty="0"/>
          </a:p>
        </p:txBody>
      </p:sp>
      <p:sp>
        <p:nvSpPr>
          <p:cNvPr id="5" name="Journey arrow 1"/>
          <p:cNvSpPr/>
          <p:nvPr/>
        </p:nvSpPr>
        <p:spPr>
          <a:xfrm>
            <a:off x="3065221" y="1737360"/>
            <a:ext cx="310896" cy="310896"/>
          </a:xfrm>
          <a:prstGeom prst="rightArrow">
            <a:avLst/>
          </a:prstGeom>
          <a:solidFill>
            <a:schemeClr val="accent5"/>
          </a:solidFill>
          <a:ln w="12700">
            <a:solidFill>
              <a:schemeClr val="accent5"/>
            </a:solidFill>
            <a:prstDash val="solid"/>
          </a:ln>
        </p:spPr>
      </p:sp>
      <p:sp>
        <p:nvSpPr>
          <p:cNvPr id="6" name="Journey step 2"/>
          <p:cNvSpPr/>
          <p:nvPr/>
        </p:nvSpPr>
        <p:spPr>
          <a:xfrm>
            <a:off x="3423818" y="1417320"/>
            <a:ext cx="2468880" cy="960120"/>
          </a:xfrm>
          <a:prstGeom prst="roundRect">
            <a:avLst>
              <a:gd name="adj" fmla="val 9524"/>
            </a:avLst>
          </a:prstGeom>
          <a:solidFill>
            <a:schemeClr val="accent6"/>
          </a:solidFill>
          <a:ln w="12700">
            <a:solidFill>
              <a:schemeClr val="accent6"/>
            </a:solidFill>
            <a:prstDash val="solid"/>
          </a:ln>
        </p:spPr>
      </p:sp>
      <p:sp>
        <p:nvSpPr>
          <p:cNvPr id="7" name="Text 5"/>
          <p:cNvSpPr txBox="1"/>
          <p:nvPr/>
        </p:nvSpPr>
        <p:spPr>
          <a:xfrm>
            <a:off x="3606698" y="1417320"/>
            <a:ext cx="2103120" cy="960120"/>
          </a:xfrm>
          <a:prstGeom prst="rect">
            <a:avLst/>
          </a:prstGeom>
          <a:noFill/>
          <a:ln/>
        </p:spPr>
        <p:txBody>
          <a:bodyPr wrap="square" lIns="0" tIns="0" rIns="0" bIns="0" rtlCol="0" anchor="ctr"/>
          <a:lstStyle/>
          <a:p>
            <a:pPr algn="ctr" indent="0" marL="0">
              <a:buNone/>
            </a:pPr>
            <a:r>
              <a:rPr lang="en-US" sz="1500" b="1" dirty="0">
                <a:solidFill>
                  <a:schemeClr val="bg1"/>
                </a:solidFill>
              </a:rPr>
              <a:t>See its electric utility and landfill renewables</a:t>
            </a:r>
            <a:endParaRPr lang="en-US" sz="1500" dirty="0"/>
          </a:p>
        </p:txBody>
      </p:sp>
      <p:sp>
        <p:nvSpPr>
          <p:cNvPr id="8" name="Journey arrow 2"/>
          <p:cNvSpPr/>
          <p:nvPr/>
        </p:nvSpPr>
        <p:spPr>
          <a:xfrm>
            <a:off x="5940400" y="1737360"/>
            <a:ext cx="310896" cy="310896"/>
          </a:xfrm>
          <a:prstGeom prst="rightArrow">
            <a:avLst/>
          </a:prstGeom>
          <a:solidFill>
            <a:schemeClr val="accent5"/>
          </a:solidFill>
          <a:ln w="12700">
            <a:solidFill>
              <a:schemeClr val="accent5"/>
            </a:solidFill>
            <a:prstDash val="solid"/>
          </a:ln>
        </p:spPr>
      </p:sp>
      <p:sp>
        <p:nvSpPr>
          <p:cNvPr id="9" name="Journey step 3"/>
          <p:cNvSpPr/>
          <p:nvPr/>
        </p:nvSpPr>
        <p:spPr>
          <a:xfrm>
            <a:off x="6298997" y="1417320"/>
            <a:ext cx="2468880" cy="960120"/>
          </a:xfrm>
          <a:prstGeom prst="roundRect">
            <a:avLst>
              <a:gd name="adj" fmla="val 9524"/>
            </a:avLst>
          </a:prstGeom>
          <a:solidFill>
            <a:schemeClr val="accent1"/>
          </a:solidFill>
          <a:ln w="12700">
            <a:solidFill>
              <a:schemeClr val="accent1"/>
            </a:solidFill>
            <a:prstDash val="solid"/>
          </a:ln>
        </p:spPr>
      </p:sp>
      <p:sp>
        <p:nvSpPr>
          <p:cNvPr id="10" name="Text 8"/>
          <p:cNvSpPr txBox="1"/>
          <p:nvPr/>
        </p:nvSpPr>
        <p:spPr>
          <a:xfrm>
            <a:off x="6481877" y="1417320"/>
            <a:ext cx="2103120" cy="960120"/>
          </a:xfrm>
          <a:prstGeom prst="rect">
            <a:avLst/>
          </a:prstGeom>
          <a:noFill/>
          <a:ln/>
        </p:spPr>
        <p:txBody>
          <a:bodyPr wrap="square" lIns="0" tIns="0" rIns="0" bIns="0" rtlCol="0" anchor="ctr"/>
          <a:lstStyle/>
          <a:p>
            <a:pPr algn="ctr" indent="0" marL="0">
              <a:buNone/>
            </a:pPr>
            <a:r>
              <a:rPr lang="en-US" sz="1500" b="1" dirty="0">
                <a:solidFill>
                  <a:schemeClr val="bg1"/>
                </a:solidFill>
              </a:rPr>
              <a:t>Simulate a building</a:t>
            </a:r>
            <a:endParaRPr lang="en-US" sz="1500" dirty="0"/>
          </a:p>
        </p:txBody>
      </p:sp>
      <p:sp>
        <p:nvSpPr>
          <p:cNvPr id="11" name="Journey arrow 3"/>
          <p:cNvSpPr/>
          <p:nvPr/>
        </p:nvSpPr>
        <p:spPr>
          <a:xfrm>
            <a:off x="8815578" y="1737360"/>
            <a:ext cx="310896" cy="310896"/>
          </a:xfrm>
          <a:prstGeom prst="rightArrow">
            <a:avLst/>
          </a:prstGeom>
          <a:solidFill>
            <a:schemeClr val="accent5"/>
          </a:solidFill>
          <a:ln w="12700">
            <a:solidFill>
              <a:schemeClr val="accent5"/>
            </a:solidFill>
            <a:prstDash val="solid"/>
          </a:ln>
        </p:spPr>
      </p:sp>
      <p:sp>
        <p:nvSpPr>
          <p:cNvPr id="12" name="Journey step 4"/>
          <p:cNvSpPr/>
          <p:nvPr/>
        </p:nvSpPr>
        <p:spPr>
          <a:xfrm>
            <a:off x="9174175" y="1417320"/>
            <a:ext cx="2468880" cy="960120"/>
          </a:xfrm>
          <a:prstGeom prst="roundRect">
            <a:avLst>
              <a:gd name="adj" fmla="val 9524"/>
            </a:avLst>
          </a:prstGeom>
          <a:solidFill>
            <a:schemeClr val="accent1"/>
          </a:solidFill>
          <a:ln w="12700">
            <a:solidFill>
              <a:schemeClr val="accent1"/>
            </a:solidFill>
            <a:prstDash val="solid"/>
          </a:ln>
        </p:spPr>
      </p:sp>
      <p:sp>
        <p:nvSpPr>
          <p:cNvPr id="13" name="Text 11"/>
          <p:cNvSpPr txBox="1"/>
          <p:nvPr/>
        </p:nvSpPr>
        <p:spPr>
          <a:xfrm>
            <a:off x="9357055" y="1417320"/>
            <a:ext cx="2103120" cy="960120"/>
          </a:xfrm>
          <a:prstGeom prst="rect">
            <a:avLst/>
          </a:prstGeom>
          <a:noFill/>
          <a:ln/>
        </p:spPr>
        <p:txBody>
          <a:bodyPr wrap="square" lIns="0" tIns="0" rIns="0" bIns="0" rtlCol="0" anchor="ctr"/>
          <a:lstStyle/>
          <a:p>
            <a:pPr algn="ctr" indent="0" marL="0">
              <a:buNone/>
            </a:pPr>
            <a:r>
              <a:rPr lang="en-US" sz="1500" b="1" dirty="0">
                <a:solidFill>
                  <a:schemeClr val="bg1"/>
                </a:solidFill>
              </a:rPr>
              <a:t>Compare coordinated vs uncoordinated</a:t>
            </a:r>
            <a:endParaRPr lang="en-US" sz="1500" dirty="0"/>
          </a:p>
        </p:txBody>
      </p:sp>
      <p:sp>
        <p:nvSpPr>
          <p:cNvPr id="14" name="Text 12"/>
          <p:cNvSpPr txBox="1"/>
          <p:nvPr/>
        </p:nvSpPr>
        <p:spPr>
          <a:xfrm>
            <a:off x="548640" y="2514600"/>
            <a:ext cx="7315200" cy="320040"/>
          </a:xfrm>
          <a:prstGeom prst="rect">
            <a:avLst/>
          </a:prstGeom>
          <a:noFill/>
          <a:ln/>
        </p:spPr>
        <p:txBody>
          <a:bodyPr wrap="square" lIns="0" tIns="0" rIns="0" bIns="0" rtlCol="0" anchor="t"/>
          <a:lstStyle/>
          <a:p>
            <a:pPr indent="0" marL="0">
              <a:buNone/>
            </a:pPr>
            <a:r>
              <a:rPr lang="en-US" sz="1300" b="1" dirty="0">
                <a:solidFill>
                  <a:schemeClr val="accent6"/>
                </a:solidFill>
              </a:rPr>
              <a:t>Public fact (MassGIS)</a:t>
            </a:r>
            <a:pPr indent="0" marL="0">
              <a:buNone/>
            </a:pPr>
            <a:r>
              <a:rPr lang="en-US" sz="1300" b="1" dirty="0">
                <a:solidFill>
                  <a:schemeClr val="accent4"/>
                </a:solidFill>
              </a:rPr>
              <a:t>   ·   </a:t>
            </a:r>
            <a:pPr indent="0" marL="0">
              <a:buNone/>
            </a:pPr>
            <a:r>
              <a:rPr lang="en-US" sz="1300" b="1" dirty="0">
                <a:solidFill>
                  <a:schemeClr val="accent1"/>
                </a:solidFill>
              </a:rPr>
              <a:t>Simulation (SIMULATED)</a:t>
            </a:r>
            <a:endParaRPr lang="en-US" sz="1300" dirty="0"/>
          </a:p>
        </p:txBody>
      </p:sp>
      <p:sp>
        <p:nvSpPr>
          <p:cNvPr id="15" name="Map circle"/>
          <p:cNvSpPr/>
          <p:nvPr/>
        </p:nvSpPr>
        <p:spPr>
          <a:xfrm>
            <a:off x="548640" y="3246120"/>
            <a:ext cx="914400" cy="914400"/>
          </a:xfrm>
          <a:prstGeom prst="ellipse">
            <a:avLst/>
          </a:prstGeom>
          <a:solidFill>
            <a:schemeClr val="accent6"/>
          </a:solidFill>
          <a:ln w="12700">
            <a:solidFill>
              <a:schemeClr val="accent6"/>
            </a:solidFill>
            <a:prstDash val="solid"/>
          </a:ln>
        </p:spPr>
      </p:sp>
      <p:pic>
        <p:nvPicPr>
          <p:cNvPr id="16" name="Map icon" descr="Map">    </p:cNvPr>
          <p:cNvPicPr>
            <a:picLocks noChangeAspect="1"/>
          </p:cNvPicPr>
          <p:nvPr/>
        </p:nvPicPr>
        <p:blipFill>
          <a:blip r:embed="rId1"/>
          <a:stretch>
            <a:fillRect/>
          </a:stretch>
        </p:blipFill>
        <p:spPr>
          <a:xfrm>
            <a:off x="786384" y="3483864"/>
            <a:ext cx="438912" cy="438912"/>
          </a:xfrm>
          <a:prstGeom prst="rect">
            <a:avLst/>
          </a:prstGeom>
        </p:spPr>
      </p:pic>
      <p:sp>
        <p:nvSpPr>
          <p:cNvPr id="17" name="Text 14"/>
          <p:cNvSpPr txBox="1"/>
          <p:nvPr/>
        </p:nvSpPr>
        <p:spPr>
          <a:xfrm>
            <a:off x="1737360" y="3108960"/>
            <a:ext cx="2194560" cy="731520"/>
          </a:xfrm>
          <a:prstGeom prst="rect">
            <a:avLst/>
          </a:prstGeom>
          <a:noFill/>
          <a:ln/>
        </p:spPr>
        <p:txBody>
          <a:bodyPr wrap="square" lIns="0" tIns="0" rIns="0" bIns="0" rtlCol="0" anchor="t"/>
          <a:lstStyle/>
          <a:p>
            <a:pPr indent="0" marL="0">
              <a:buNone/>
            </a:pPr>
            <a:r>
              <a:rPr lang="en-US" sz="4400" b="1" dirty="0">
                <a:solidFill>
                  <a:schemeClr val="tx2"/>
                </a:solidFill>
              </a:rPr>
              <a:t>351</a:t>
            </a:r>
            <a:endParaRPr lang="en-US" sz="1600" dirty="0"/>
          </a:p>
        </p:txBody>
      </p:sp>
      <p:sp>
        <p:nvSpPr>
          <p:cNvPr id="18" name="Text 15"/>
          <p:cNvSpPr txBox="1"/>
          <p:nvPr/>
        </p:nvSpPr>
        <p:spPr>
          <a:xfrm>
            <a:off x="1737360" y="3840480"/>
            <a:ext cx="2468880" cy="548640"/>
          </a:xfrm>
          <a:prstGeom prst="rect">
            <a:avLst/>
          </a:prstGeom>
          <a:noFill/>
          <a:ln/>
        </p:spPr>
        <p:txBody>
          <a:bodyPr wrap="square" lIns="0" tIns="0" rIns="0" bIns="0" rtlCol="0" anchor="t"/>
          <a:lstStyle/>
          <a:p>
            <a:pPr indent="0" marL="0">
              <a:buNone/>
            </a:pPr>
            <a:r>
              <a:rPr lang="en-US" sz="1400" dirty="0">
                <a:solidFill>
                  <a:schemeClr val="accent4"/>
                </a:solidFill>
              </a:rPr>
              <a:t>towns mapped to their electric utility</a:t>
            </a:r>
            <a:endParaRPr lang="en-US" sz="1400" dirty="0"/>
          </a:p>
        </p:txBody>
      </p:sp>
      <p:sp>
        <p:nvSpPr>
          <p:cNvPr id="19" name="Text 16"/>
          <p:cNvSpPr txBox="1"/>
          <p:nvPr/>
        </p:nvSpPr>
        <p:spPr>
          <a:xfrm>
            <a:off x="4206240" y="3108960"/>
            <a:ext cx="2194560" cy="731520"/>
          </a:xfrm>
          <a:prstGeom prst="rect">
            <a:avLst/>
          </a:prstGeom>
          <a:noFill/>
          <a:ln/>
        </p:spPr>
        <p:txBody>
          <a:bodyPr wrap="square" lIns="0" tIns="0" rIns="0" bIns="0" rtlCol="0" anchor="t"/>
          <a:lstStyle/>
          <a:p>
            <a:pPr indent="0" marL="0">
              <a:buNone/>
            </a:pPr>
            <a:r>
              <a:rPr lang="en-US" sz="4400" b="1" dirty="0">
                <a:solidFill>
                  <a:schemeClr val="tx2"/>
                </a:solidFill>
              </a:rPr>
              <a:t>116</a:t>
            </a:r>
            <a:endParaRPr lang="en-US" sz="1600" dirty="0"/>
          </a:p>
        </p:txBody>
      </p:sp>
      <p:sp>
        <p:nvSpPr>
          <p:cNvPr id="20" name="Text 17"/>
          <p:cNvSpPr txBox="1"/>
          <p:nvPr/>
        </p:nvSpPr>
        <p:spPr>
          <a:xfrm>
            <a:off x="4206240" y="3840480"/>
            <a:ext cx="2468880" cy="548640"/>
          </a:xfrm>
          <a:prstGeom prst="rect">
            <a:avLst/>
          </a:prstGeom>
          <a:noFill/>
          <a:ln/>
        </p:spPr>
        <p:txBody>
          <a:bodyPr wrap="square" lIns="0" tIns="0" rIns="0" bIns="0" rtlCol="0" anchor="t"/>
          <a:lstStyle/>
          <a:p>
            <a:pPr indent="0" marL="0">
              <a:buNone/>
            </a:pPr>
            <a:r>
              <a:rPr lang="en-US" sz="1400" dirty="0">
                <a:solidFill>
                  <a:schemeClr val="accent4"/>
                </a:solidFill>
              </a:rPr>
              <a:t>renewable projects at MA landfills (status, reported capacity)</a:t>
            </a:r>
            <a:endParaRPr lang="en-US" sz="1400" dirty="0"/>
          </a:p>
        </p:txBody>
      </p:sp>
      <p:sp>
        <p:nvSpPr>
          <p:cNvPr id="21" name="Text 18"/>
          <p:cNvSpPr txBox="1"/>
          <p:nvPr/>
        </p:nvSpPr>
        <p:spPr>
          <a:xfrm>
            <a:off x="548640" y="4754880"/>
            <a:ext cx="6126480" cy="548640"/>
          </a:xfrm>
          <a:prstGeom prst="rect">
            <a:avLst/>
          </a:prstGeom>
          <a:noFill/>
          <a:ln/>
        </p:spPr>
        <p:txBody>
          <a:bodyPr wrap="square" lIns="0" tIns="0" rIns="0" bIns="0" rtlCol="0" anchor="t"/>
          <a:lstStyle/>
          <a:p>
            <a:pPr indent="0" marL="0">
              <a:buNone/>
            </a:pPr>
            <a:r>
              <a:rPr lang="en-US" sz="1300" i="1" dirty="0">
                <a:solidFill>
                  <a:schemeClr val="accent4"/>
                </a:solidFill>
              </a:rPr>
              <a:t>Bundled CSV snapshot saved 2026-10-18 — no network needed. Source and date are shown in the app.</a:t>
            </a:r>
            <a:endParaRPr lang="en-US" sz="1300" dirty="0"/>
          </a:p>
        </p:txBody>
      </p:sp>
      <p:sp>
        <p:nvSpPr>
          <p:cNvPr id="22" name="What MassGIS does not tell us"/>
          <p:cNvSpPr/>
          <p:nvPr/>
        </p:nvSpPr>
        <p:spPr>
          <a:xfrm>
            <a:off x="7086600" y="3017520"/>
            <a:ext cx="4556455" cy="2926080"/>
          </a:xfrm>
          <a:prstGeom prst="roundRect">
            <a:avLst>
              <a:gd name="adj" fmla="val 375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3" name="Text 20"/>
          <p:cNvSpPr txBox="1"/>
          <p:nvPr/>
        </p:nvSpPr>
        <p:spPr>
          <a:xfrm>
            <a:off x="7360920" y="3200400"/>
            <a:ext cx="4023360" cy="411480"/>
          </a:xfrm>
          <a:prstGeom prst="rect">
            <a:avLst/>
          </a:prstGeom>
          <a:noFill/>
          <a:ln/>
        </p:spPr>
        <p:txBody>
          <a:bodyPr wrap="square" lIns="0" tIns="0" rIns="0" bIns="0" rtlCol="0" anchor="t"/>
          <a:lstStyle/>
          <a:p>
            <a:pPr indent="0" marL="0">
              <a:buNone/>
            </a:pPr>
            <a:r>
              <a:rPr lang="en-US" sz="1700" b="1" dirty="0">
                <a:solidFill>
                  <a:schemeClr val="tx2"/>
                </a:solidFill>
              </a:rPr>
              <a:t>What this data does not establish</a:t>
            </a:r>
            <a:endParaRPr lang="en-US" sz="1700" dirty="0"/>
          </a:p>
        </p:txBody>
      </p:sp>
      <p:sp>
        <p:nvSpPr>
          <p:cNvPr id="24" name="Text 21"/>
          <p:cNvSpPr txBox="1"/>
          <p:nvPr/>
        </p:nvSpPr>
        <p:spPr>
          <a:xfrm>
            <a:off x="7360920" y="3703320"/>
            <a:ext cx="4023360" cy="21031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Tariffs, live grid demand or capacity</a:t>
            </a:r>
            <a:endParaRPr lang="en-US" sz="1500" dirty="0"/>
          </a:p>
          <a:p>
            <a:pPr marL="342900" indent="-342900">
              <a:spcAft>
                <a:spcPts val="800"/>
              </a:spcAft>
              <a:buSzPct val="100000"/>
              <a:buChar char="•"/>
            </a:pPr>
            <a:r>
              <a:rPr lang="en-US" sz="1500" dirty="0">
                <a:solidFill>
                  <a:schemeClr val="tx1"/>
                </a:solidFill>
              </a:rPr>
              <a:t>Price or carbon intensity</a:t>
            </a:r>
            <a:endParaRPr lang="en-US" sz="1500" dirty="0"/>
          </a:p>
          <a:p>
            <a:pPr marL="342900" indent="-342900">
              <a:spcAft>
                <a:spcPts val="800"/>
              </a:spcAft>
              <a:buSzPct val="100000"/>
              <a:buChar char="•"/>
            </a:pPr>
            <a:r>
              <a:rPr lang="en-US" sz="1500" dirty="0">
                <a:solidFill>
                  <a:schemeClr val="tx1"/>
                </a:solidFill>
              </a:rPr>
              <a:t>Which generator supplies a building</a:t>
            </a:r>
            <a:endParaRPr lang="en-US" sz="1500" dirty="0"/>
          </a:p>
          <a:p>
            <a:pPr marL="342900" indent="-342900">
              <a:spcAft>
                <a:spcPts val="800"/>
              </a:spcAft>
              <a:buSzPct val="100000"/>
              <a:buChar char="•"/>
            </a:pPr>
            <a:r>
              <a:rPr lang="en-US" sz="1500" dirty="0">
                <a:solidFill>
                  <a:schemeClr val="tx1"/>
                </a:solidFill>
              </a:rPr>
              <a:t>Reported landfill MW is not generation</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Built to be checked: one engine, many tests</a:t>
            </a:r>
            <a:endParaRPr lang="en-US" sz="3200" dirty="0"/>
          </a:p>
        </p:txBody>
      </p:sp>
      <p:sp>
        <p:nvSpPr>
          <p:cNvPr id="3" name="One pure-stdlib engine card"/>
          <p:cNvSpPr/>
          <p:nvPr/>
        </p:nvSpPr>
        <p:spPr>
          <a:xfrm>
            <a:off x="548640" y="1371600"/>
            <a:ext cx="5364328" cy="2194560"/>
          </a:xfrm>
          <a:prstGeom prst="roundRect">
            <a:avLst>
              <a:gd name="adj" fmla="val 5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One pure-stdlib engine circle"/>
          <p:cNvSpPr/>
          <p:nvPr/>
        </p:nvSpPr>
        <p:spPr>
          <a:xfrm>
            <a:off x="868680" y="1691640"/>
            <a:ext cx="777240" cy="777240"/>
          </a:xfrm>
          <a:prstGeom prst="ellipse">
            <a:avLst/>
          </a:prstGeom>
          <a:solidFill>
            <a:schemeClr val="accent6"/>
          </a:solidFill>
          <a:ln w="12700">
            <a:solidFill>
              <a:schemeClr val="accent6"/>
            </a:solidFill>
            <a:prstDash val="solid"/>
          </a:ln>
        </p:spPr>
      </p:sp>
      <p:pic>
        <p:nvPicPr>
          <p:cNvPr id="5" name="One pure-stdlib engine icon" descr="One pure-stdlib engine">    </p:cNvPr>
          <p:cNvPicPr>
            <a:picLocks noChangeAspect="1"/>
          </p:cNvPicPr>
          <p:nvPr/>
        </p:nvPicPr>
        <p:blipFill>
          <a:blip r:embed="rId1"/>
          <a:stretch>
            <a:fillRect/>
          </a:stretch>
        </p:blipFill>
        <p:spPr>
          <a:xfrm>
            <a:off x="1070762" y="1893722"/>
            <a:ext cx="373075" cy="373075"/>
          </a:xfrm>
          <a:prstGeom prst="rect">
            <a:avLst/>
          </a:prstGeom>
        </p:spPr>
      </p:pic>
      <p:sp>
        <p:nvSpPr>
          <p:cNvPr id="6" name="Text 3"/>
          <p:cNvSpPr txBox="1"/>
          <p:nvPr/>
        </p:nvSpPr>
        <p:spPr>
          <a:xfrm>
            <a:off x="1874520" y="1691640"/>
            <a:ext cx="3764128" cy="777240"/>
          </a:xfrm>
          <a:prstGeom prst="rect">
            <a:avLst/>
          </a:prstGeom>
          <a:noFill/>
          <a:ln/>
        </p:spPr>
        <p:txBody>
          <a:bodyPr wrap="square" lIns="0" tIns="0" rIns="0" bIns="0" rtlCol="0" anchor="ctr"/>
          <a:lstStyle/>
          <a:p>
            <a:pPr indent="0" marL="0">
              <a:buNone/>
            </a:pPr>
            <a:r>
              <a:rPr lang="en-US" sz="2000" b="1" dirty="0">
                <a:solidFill>
                  <a:schemeClr val="tx2"/>
                </a:solidFill>
              </a:rPr>
              <a:t>One pure-stdlib engine</a:t>
            </a:r>
            <a:endParaRPr lang="en-US" sz="2000" dirty="0"/>
          </a:p>
        </p:txBody>
      </p:sp>
      <p:sp>
        <p:nvSpPr>
          <p:cNvPr id="7" name="Text 4"/>
          <p:cNvSpPr txBox="1"/>
          <p:nvPr/>
        </p:nvSpPr>
        <p:spPr>
          <a:xfrm>
            <a:off x="868680" y="2606040"/>
            <a:ext cx="4724248" cy="868680"/>
          </a:xfrm>
          <a:prstGeom prst="rect">
            <a:avLst/>
          </a:prstGeom>
          <a:noFill/>
          <a:ln/>
        </p:spPr>
        <p:txBody>
          <a:bodyPr wrap="square" lIns="0" tIns="0" rIns="0" bIns="0" rtlCol="0" anchor="t"/>
          <a:lstStyle/>
          <a:p>
            <a:pPr indent="0" marL="0">
              <a:buNone/>
            </a:pPr>
            <a:r>
              <a:rPr lang="en-US" sz="1500" dirty="0">
                <a:solidFill>
                  <a:schemeClr val="tx1"/>
                </a:solidFill>
              </a:rPr>
              <a:t>All control logic lives in peakpilot/engine.py. The Streamlit dashboard is a thin view and never re-implements the loop.</a:t>
            </a:r>
            <a:endParaRPr lang="en-US" sz="1500" dirty="0"/>
          </a:p>
        </p:txBody>
      </p:sp>
      <p:sp>
        <p:nvSpPr>
          <p:cNvPr id="8" name="Rust port for a Raspberry Pi card"/>
          <p:cNvSpPr/>
          <p:nvPr/>
        </p:nvSpPr>
        <p:spPr>
          <a:xfrm>
            <a:off x="6278728" y="1371600"/>
            <a:ext cx="5364328" cy="2194560"/>
          </a:xfrm>
          <a:prstGeom prst="roundRect">
            <a:avLst>
              <a:gd name="adj" fmla="val 5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Rust port for a Raspberry Pi circle"/>
          <p:cNvSpPr/>
          <p:nvPr/>
        </p:nvSpPr>
        <p:spPr>
          <a:xfrm>
            <a:off x="6598768" y="1691640"/>
            <a:ext cx="777240" cy="777240"/>
          </a:xfrm>
          <a:prstGeom prst="ellipse">
            <a:avLst/>
          </a:prstGeom>
          <a:solidFill>
            <a:schemeClr val="accent2"/>
          </a:solidFill>
          <a:ln w="12700">
            <a:solidFill>
              <a:schemeClr val="accent2"/>
            </a:solidFill>
            <a:prstDash val="solid"/>
          </a:ln>
        </p:spPr>
      </p:sp>
      <p:pic>
        <p:nvPicPr>
          <p:cNvPr id="10" name="Rust port for a Raspberry Pi icon" descr="Rust port for a Raspberry Pi">    </p:cNvPr>
          <p:cNvPicPr>
            <a:picLocks noChangeAspect="1"/>
          </p:cNvPicPr>
          <p:nvPr/>
        </p:nvPicPr>
        <p:blipFill>
          <a:blip r:embed="rId2"/>
          <a:stretch>
            <a:fillRect/>
          </a:stretch>
        </p:blipFill>
        <p:spPr>
          <a:xfrm>
            <a:off x="6800850" y="1893722"/>
            <a:ext cx="373075" cy="373075"/>
          </a:xfrm>
          <a:prstGeom prst="rect">
            <a:avLst/>
          </a:prstGeom>
        </p:spPr>
      </p:pic>
      <p:sp>
        <p:nvSpPr>
          <p:cNvPr id="11" name="Text 7"/>
          <p:cNvSpPr txBox="1"/>
          <p:nvPr/>
        </p:nvSpPr>
        <p:spPr>
          <a:xfrm>
            <a:off x="7604608" y="1691640"/>
            <a:ext cx="3764128" cy="777240"/>
          </a:xfrm>
          <a:prstGeom prst="rect">
            <a:avLst/>
          </a:prstGeom>
          <a:noFill/>
          <a:ln/>
        </p:spPr>
        <p:txBody>
          <a:bodyPr wrap="square" lIns="0" tIns="0" rIns="0" bIns="0" rtlCol="0" anchor="ctr"/>
          <a:lstStyle/>
          <a:p>
            <a:pPr indent="0" marL="0">
              <a:buNone/>
            </a:pPr>
            <a:r>
              <a:rPr lang="en-US" sz="2000" b="1" dirty="0">
                <a:solidFill>
                  <a:schemeClr val="tx2"/>
                </a:solidFill>
              </a:rPr>
              <a:t>Rust port for a Raspberry Pi</a:t>
            </a:r>
            <a:endParaRPr lang="en-US" sz="2000" dirty="0"/>
          </a:p>
        </p:txBody>
      </p:sp>
      <p:sp>
        <p:nvSpPr>
          <p:cNvPr id="12" name="Text 8"/>
          <p:cNvSpPr txBox="1"/>
          <p:nvPr/>
        </p:nvSpPr>
        <p:spPr>
          <a:xfrm>
            <a:off x="6598768" y="2606040"/>
            <a:ext cx="4724248" cy="868680"/>
          </a:xfrm>
          <a:prstGeom prst="rect">
            <a:avLst/>
          </a:prstGeom>
          <a:noFill/>
          <a:ln/>
        </p:spPr>
        <p:txBody>
          <a:bodyPr wrap="square" lIns="0" tIns="0" rIns="0" bIns="0" rtlCol="0" anchor="t"/>
          <a:lstStyle/>
          <a:p>
            <a:pPr indent="0" marL="0">
              <a:buNone/>
            </a:pPr>
            <a:r>
              <a:rPr lang="en-US" sz="1500" dirty="0">
                <a:solidFill>
                  <a:schemeClr val="tx1"/>
                </a:solidFill>
              </a:rPr>
              <a:t>Static arm64 binary in a 0.8 MB image. Matches Python's JSON output exactly on 130 cases in CI. Not yet run on a physical Pi.</a:t>
            </a:r>
            <a:endParaRPr lang="en-US" sz="1500" dirty="0"/>
          </a:p>
        </p:txBody>
      </p:sp>
      <p:sp>
        <p:nvSpPr>
          <p:cNvPr id="13" name="Tested end to end card"/>
          <p:cNvSpPr/>
          <p:nvPr/>
        </p:nvSpPr>
        <p:spPr>
          <a:xfrm>
            <a:off x="548640" y="3840480"/>
            <a:ext cx="5364328" cy="2194560"/>
          </a:xfrm>
          <a:prstGeom prst="roundRect">
            <a:avLst>
              <a:gd name="adj" fmla="val 5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4" name="Tested end to end circle"/>
          <p:cNvSpPr/>
          <p:nvPr/>
        </p:nvSpPr>
        <p:spPr>
          <a:xfrm>
            <a:off x="868680" y="4160520"/>
            <a:ext cx="777240" cy="777240"/>
          </a:xfrm>
          <a:prstGeom prst="ellipse">
            <a:avLst/>
          </a:prstGeom>
          <a:solidFill>
            <a:schemeClr val="accent1"/>
          </a:solidFill>
          <a:ln w="12700">
            <a:solidFill>
              <a:schemeClr val="accent1"/>
            </a:solidFill>
            <a:prstDash val="solid"/>
          </a:ln>
        </p:spPr>
      </p:sp>
      <p:pic>
        <p:nvPicPr>
          <p:cNvPr id="15" name="Tested end to end icon" descr="Tested end to end">    </p:cNvPr>
          <p:cNvPicPr>
            <a:picLocks noChangeAspect="1"/>
          </p:cNvPicPr>
          <p:nvPr/>
        </p:nvPicPr>
        <p:blipFill>
          <a:blip r:embed="rId3"/>
          <a:stretch>
            <a:fillRect/>
          </a:stretch>
        </p:blipFill>
        <p:spPr>
          <a:xfrm>
            <a:off x="1070762" y="4362602"/>
            <a:ext cx="373075" cy="373075"/>
          </a:xfrm>
          <a:prstGeom prst="rect">
            <a:avLst/>
          </a:prstGeom>
        </p:spPr>
      </p:pic>
      <p:sp>
        <p:nvSpPr>
          <p:cNvPr id="16" name="Text 11"/>
          <p:cNvSpPr txBox="1"/>
          <p:nvPr/>
        </p:nvSpPr>
        <p:spPr>
          <a:xfrm>
            <a:off x="1874520" y="4160520"/>
            <a:ext cx="3764128" cy="777240"/>
          </a:xfrm>
          <a:prstGeom prst="rect">
            <a:avLst/>
          </a:prstGeom>
          <a:noFill/>
          <a:ln/>
        </p:spPr>
        <p:txBody>
          <a:bodyPr wrap="square" lIns="0" tIns="0" rIns="0" bIns="0" rtlCol="0" anchor="ctr"/>
          <a:lstStyle/>
          <a:p>
            <a:pPr indent="0" marL="0">
              <a:buNone/>
            </a:pPr>
            <a:r>
              <a:rPr lang="en-US" sz="2000" b="1" dirty="0">
                <a:solidFill>
                  <a:schemeClr val="tx2"/>
                </a:solidFill>
              </a:rPr>
              <a:t>Tested end to end</a:t>
            </a:r>
            <a:endParaRPr lang="en-US" sz="2000" dirty="0"/>
          </a:p>
        </p:txBody>
      </p:sp>
      <p:sp>
        <p:nvSpPr>
          <p:cNvPr id="17" name="Text 12"/>
          <p:cNvSpPr txBox="1"/>
          <p:nvPr/>
        </p:nvSpPr>
        <p:spPr>
          <a:xfrm>
            <a:off x="868680" y="5074920"/>
            <a:ext cx="4724248" cy="868680"/>
          </a:xfrm>
          <a:prstGeom prst="rect">
            <a:avLst/>
          </a:prstGeom>
          <a:noFill/>
          <a:ln/>
        </p:spPr>
        <p:txBody>
          <a:bodyPr wrap="square" lIns="0" tIns="0" rIns="0" bIns="0" rtlCol="0" anchor="t"/>
          <a:lstStyle/>
          <a:p>
            <a:pPr indent="0" marL="0">
              <a:buNone/>
            </a:pPr>
            <a:r>
              <a:rPr lang="en-US" sz="1500" dirty="0">
                <a:solidFill>
                  <a:schemeClr val="tx1"/>
                </a:solidFill>
              </a:rPr>
              <a:t>180 pytest tests with a 90% coverage gate in CI, plus Hypothesis property tests in Python and proptest in Rust.</a:t>
            </a:r>
            <a:endParaRPr lang="en-US" sz="1500" dirty="0"/>
          </a:p>
        </p:txBody>
      </p:sp>
      <p:sp>
        <p:nvSpPr>
          <p:cNvPr id="18" name="Rooftop PV with MPPT card"/>
          <p:cNvSpPr/>
          <p:nvPr/>
        </p:nvSpPr>
        <p:spPr>
          <a:xfrm>
            <a:off x="6278728" y="3840480"/>
            <a:ext cx="5364328" cy="2194560"/>
          </a:xfrm>
          <a:prstGeom prst="roundRect">
            <a:avLst>
              <a:gd name="adj" fmla="val 5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9" name="Rooftop PV with MPPT circle"/>
          <p:cNvSpPr/>
          <p:nvPr/>
        </p:nvSpPr>
        <p:spPr>
          <a:xfrm>
            <a:off x="6598768" y="4160520"/>
            <a:ext cx="777240" cy="777240"/>
          </a:xfrm>
          <a:prstGeom prst="ellipse">
            <a:avLst/>
          </a:prstGeom>
          <a:solidFill>
            <a:schemeClr val="accent3"/>
          </a:solidFill>
          <a:ln w="12700">
            <a:solidFill>
              <a:schemeClr val="accent3"/>
            </a:solidFill>
            <a:prstDash val="solid"/>
          </a:ln>
        </p:spPr>
      </p:sp>
      <p:pic>
        <p:nvPicPr>
          <p:cNvPr id="20" name="Rooftop PV with MPPT icon" descr="Rooftop PV with MPPT">    </p:cNvPr>
          <p:cNvPicPr>
            <a:picLocks noChangeAspect="1"/>
          </p:cNvPicPr>
          <p:nvPr/>
        </p:nvPicPr>
        <p:blipFill>
          <a:blip r:embed="rId4"/>
          <a:stretch>
            <a:fillRect/>
          </a:stretch>
        </p:blipFill>
        <p:spPr>
          <a:xfrm>
            <a:off x="6800850" y="4362602"/>
            <a:ext cx="373075" cy="373075"/>
          </a:xfrm>
          <a:prstGeom prst="rect">
            <a:avLst/>
          </a:prstGeom>
        </p:spPr>
      </p:pic>
      <p:sp>
        <p:nvSpPr>
          <p:cNvPr id="21" name="Text 15"/>
          <p:cNvSpPr txBox="1"/>
          <p:nvPr/>
        </p:nvSpPr>
        <p:spPr>
          <a:xfrm>
            <a:off x="7604608" y="4160520"/>
            <a:ext cx="3764128" cy="777240"/>
          </a:xfrm>
          <a:prstGeom prst="rect">
            <a:avLst/>
          </a:prstGeom>
          <a:noFill/>
          <a:ln/>
        </p:spPr>
        <p:txBody>
          <a:bodyPr wrap="square" lIns="0" tIns="0" rIns="0" bIns="0" rtlCol="0" anchor="ctr"/>
          <a:lstStyle/>
          <a:p>
            <a:pPr indent="0" marL="0">
              <a:buNone/>
            </a:pPr>
            <a:r>
              <a:rPr lang="en-US" sz="2000" b="1" dirty="0">
                <a:solidFill>
                  <a:schemeClr val="tx2"/>
                </a:solidFill>
              </a:rPr>
              <a:t>Rooftop PV with MPPT</a:t>
            </a:r>
            <a:endParaRPr lang="en-US" sz="2000" dirty="0"/>
          </a:p>
        </p:txBody>
      </p:sp>
      <p:sp>
        <p:nvSpPr>
          <p:cNvPr id="22" name="Text 16"/>
          <p:cNvSpPr txBox="1"/>
          <p:nvPr/>
        </p:nvSpPr>
        <p:spPr>
          <a:xfrm>
            <a:off x="6598768" y="5074920"/>
            <a:ext cx="4724248" cy="868680"/>
          </a:xfrm>
          <a:prstGeom prst="rect">
            <a:avLst/>
          </a:prstGeom>
          <a:noFill/>
          <a:ln/>
        </p:spPr>
        <p:txBody>
          <a:bodyPr wrap="square" lIns="0" tIns="0" rIns="0" bIns="0" rtlCol="0" anchor="t"/>
          <a:lstStyle/>
          <a:p>
            <a:pPr indent="0" marL="0">
              <a:buNone/>
            </a:pPr>
            <a:r>
              <a:rPr lang="en-US" sz="1500" dirty="0">
                <a:solidFill>
                  <a:schemeClr val="tx1"/>
                </a:solidFill>
              </a:rPr>
              <a:t>Optional SIMULATED array. Perturb-and-observe tracking captures 99.97% of the true maximum power point; the limit applies to net grid import.</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548640"/>
            <a:ext cx="11094415" cy="822960"/>
          </a:xfrm>
          <a:prstGeom prst="rect">
            <a:avLst/>
          </a:prstGeom>
          <a:noFill/>
          <a:ln/>
        </p:spPr>
        <p:txBody>
          <a:bodyPr wrap="square" lIns="0" tIns="0" rIns="0" bIns="0" rtlCol="0" anchor="t"/>
          <a:lstStyle/>
          <a:p>
            <a:pPr indent="0" marL="0">
              <a:buNone/>
            </a:pPr>
            <a:r>
              <a:rPr lang="en-US" sz="3600" b="1" dirty="0">
                <a:solidFill>
                  <a:schemeClr val="bg1"/>
                </a:solidFill>
                <a:latin typeface="Arial" pitchFamily="34" charset="0"/>
                <a:ea typeface="Arial" pitchFamily="34" charset="-122"/>
                <a:cs typeface="Arial" pitchFamily="34" charset="-120"/>
              </a:rPr>
              <a:t>Honest limits, and what's next</a:t>
            </a:r>
            <a:endParaRPr lang="en-US" sz="3600" dirty="0"/>
          </a:p>
        </p:txBody>
      </p:sp>
      <p:sp>
        <p:nvSpPr>
          <p:cNvPr id="3" name="What we don't claim panel"/>
          <p:cNvSpPr/>
          <p:nvPr/>
        </p:nvSpPr>
        <p:spPr>
          <a:xfrm>
            <a:off x="548640" y="1645920"/>
            <a:ext cx="5318608" cy="3566160"/>
          </a:xfrm>
          <a:prstGeom prst="roundRect">
            <a:avLst>
              <a:gd name="adj" fmla="val 3077"/>
            </a:avLst>
          </a:prstGeom>
          <a:solidFill>
            <a:schemeClr val="accent6"/>
          </a:solidFill>
          <a:ln w="12700">
            <a:solidFill>
              <a:schemeClr val="accent6"/>
            </a:solidFill>
            <a:prstDash val="solid"/>
          </a:ln>
        </p:spPr>
      </p:sp>
      <p:sp>
        <p:nvSpPr>
          <p:cNvPr id="4" name="What we don't claim circle"/>
          <p:cNvSpPr/>
          <p:nvPr/>
        </p:nvSpPr>
        <p:spPr>
          <a:xfrm>
            <a:off x="868680" y="1920240"/>
            <a:ext cx="685800" cy="685800"/>
          </a:xfrm>
          <a:prstGeom prst="ellipse">
            <a:avLst/>
          </a:prstGeom>
          <a:solidFill>
            <a:schemeClr val="accent3"/>
          </a:solidFill>
          <a:ln w="12700">
            <a:solidFill>
              <a:schemeClr val="accent3"/>
            </a:solidFill>
            <a:prstDash val="solid"/>
          </a:ln>
        </p:spPr>
      </p:sp>
      <p:pic>
        <p:nvPicPr>
          <p:cNvPr id="5" name="What we don't claim icon" descr="What we don't claim">    </p:cNvPr>
          <p:cNvPicPr>
            <a:picLocks noChangeAspect="1"/>
          </p:cNvPicPr>
          <p:nvPr/>
        </p:nvPicPr>
        <p:blipFill>
          <a:blip r:embed="rId1"/>
          <a:stretch>
            <a:fillRect/>
          </a:stretch>
        </p:blipFill>
        <p:spPr>
          <a:xfrm>
            <a:off x="1046988" y="2098548"/>
            <a:ext cx="329184" cy="329184"/>
          </a:xfrm>
          <a:prstGeom prst="rect">
            <a:avLst/>
          </a:prstGeom>
        </p:spPr>
      </p:pic>
      <p:sp>
        <p:nvSpPr>
          <p:cNvPr id="6" name="Text 3"/>
          <p:cNvSpPr txBox="1"/>
          <p:nvPr/>
        </p:nvSpPr>
        <p:spPr>
          <a:xfrm>
            <a:off x="1737360" y="1920240"/>
            <a:ext cx="3855568" cy="685800"/>
          </a:xfrm>
          <a:prstGeom prst="rect">
            <a:avLst/>
          </a:prstGeom>
          <a:noFill/>
          <a:ln/>
        </p:spPr>
        <p:txBody>
          <a:bodyPr wrap="square" lIns="0" tIns="0" rIns="0" bIns="0" rtlCol="0" anchor="ctr"/>
          <a:lstStyle/>
          <a:p>
            <a:pPr indent="0" marL="0">
              <a:buNone/>
            </a:pPr>
            <a:r>
              <a:rPr lang="en-US" sz="2200" b="1" dirty="0">
                <a:solidFill>
                  <a:schemeClr val="bg1"/>
                </a:solidFill>
              </a:rPr>
              <a:t>What we don't claim</a:t>
            </a:r>
            <a:endParaRPr lang="en-US" sz="2200" dirty="0"/>
          </a:p>
        </p:txBody>
      </p:sp>
      <p:sp>
        <p:nvSpPr>
          <p:cNvPr id="7" name="Text 4"/>
          <p:cNvSpPr txBox="1"/>
          <p:nvPr/>
        </p:nvSpPr>
        <p:spPr>
          <a:xfrm>
            <a:off x="868680" y="2834640"/>
            <a:ext cx="4678528" cy="21945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bg2"/>
                </a:solidFill>
              </a:rPr>
              <a:t>Device telemetry and rooftop PV are simulated</a:t>
            </a:r>
            <a:endParaRPr lang="en-US" sz="1600" dirty="0"/>
          </a:p>
          <a:p>
            <a:pPr marL="342900" indent="-342900">
              <a:spcAft>
                <a:spcPts val="1000"/>
              </a:spcAft>
              <a:buSzPct val="100000"/>
              <a:buChar char="•"/>
            </a:pPr>
            <a:r>
              <a:rPr lang="en-US" sz="1600" dirty="0">
                <a:solidFill>
                  <a:schemeClr val="bg2"/>
                </a:solidFill>
              </a:rPr>
              <a:t>The room model is illustrative, not calibrated</a:t>
            </a:r>
            <a:endParaRPr lang="en-US" sz="1600" dirty="0"/>
          </a:p>
          <a:p>
            <a:pPr marL="342900" indent="-342900">
              <a:spcAft>
                <a:spcPts val="1000"/>
              </a:spcAft>
              <a:buSzPct val="100000"/>
              <a:buChar char="•"/>
            </a:pPr>
            <a:r>
              <a:rPr lang="en-US" sz="1600" dirty="0">
                <a:solidFill>
                  <a:schemeClr val="bg2"/>
                </a:solidFill>
              </a:rPr>
              <a:t>No cost or carbon savings are claimed</a:t>
            </a:r>
            <a:endParaRPr lang="en-US" sz="1600" dirty="0"/>
          </a:p>
          <a:p>
            <a:pPr marL="342900" indent="-342900">
              <a:spcAft>
                <a:spcPts val="1000"/>
              </a:spcAft>
              <a:buSzPct val="100000"/>
              <a:buChar char="•"/>
            </a:pPr>
            <a:r>
              <a:rPr lang="en-US" sz="1600" dirty="0">
                <a:solidFill>
                  <a:schemeClr val="bg2"/>
                </a:solidFill>
              </a:rPr>
              <a:t>The Pi image is tested in CI, not on hardware</a:t>
            </a:r>
            <a:endParaRPr lang="en-US" sz="1600" dirty="0"/>
          </a:p>
        </p:txBody>
      </p:sp>
      <p:sp>
        <p:nvSpPr>
          <p:cNvPr id="8" name="Next steps panel"/>
          <p:cNvSpPr/>
          <p:nvPr/>
        </p:nvSpPr>
        <p:spPr>
          <a:xfrm>
            <a:off x="6324448" y="1645920"/>
            <a:ext cx="5318608" cy="3566160"/>
          </a:xfrm>
          <a:prstGeom prst="roundRect">
            <a:avLst>
              <a:gd name="adj" fmla="val 3077"/>
            </a:avLst>
          </a:prstGeom>
          <a:solidFill>
            <a:schemeClr val="accent6"/>
          </a:solidFill>
          <a:ln w="12700">
            <a:solidFill>
              <a:schemeClr val="accent6"/>
            </a:solidFill>
            <a:prstDash val="solid"/>
          </a:ln>
        </p:spPr>
      </p:sp>
      <p:sp>
        <p:nvSpPr>
          <p:cNvPr id="9" name="Next steps circle"/>
          <p:cNvSpPr/>
          <p:nvPr/>
        </p:nvSpPr>
        <p:spPr>
          <a:xfrm>
            <a:off x="6644488" y="1920240"/>
            <a:ext cx="685800" cy="685800"/>
          </a:xfrm>
          <a:prstGeom prst="ellipse">
            <a:avLst/>
          </a:prstGeom>
          <a:solidFill>
            <a:schemeClr val="accent1"/>
          </a:solidFill>
          <a:ln w="12700">
            <a:solidFill>
              <a:schemeClr val="accent1"/>
            </a:solidFill>
            <a:prstDash val="solid"/>
          </a:ln>
        </p:spPr>
      </p:sp>
      <p:pic>
        <p:nvPicPr>
          <p:cNvPr id="10" name="Next steps icon" descr="Next steps">    </p:cNvPr>
          <p:cNvPicPr>
            <a:picLocks noChangeAspect="1"/>
          </p:cNvPicPr>
          <p:nvPr/>
        </p:nvPicPr>
        <p:blipFill>
          <a:blip r:embed="rId2"/>
          <a:stretch>
            <a:fillRect/>
          </a:stretch>
        </p:blipFill>
        <p:spPr>
          <a:xfrm>
            <a:off x="6822796" y="2098548"/>
            <a:ext cx="329184" cy="329184"/>
          </a:xfrm>
          <a:prstGeom prst="rect">
            <a:avLst/>
          </a:prstGeom>
        </p:spPr>
      </p:pic>
      <p:sp>
        <p:nvSpPr>
          <p:cNvPr id="11" name="Text 7"/>
          <p:cNvSpPr txBox="1"/>
          <p:nvPr/>
        </p:nvSpPr>
        <p:spPr>
          <a:xfrm>
            <a:off x="7513168" y="1920240"/>
            <a:ext cx="3855568" cy="685800"/>
          </a:xfrm>
          <a:prstGeom prst="rect">
            <a:avLst/>
          </a:prstGeom>
          <a:noFill/>
          <a:ln/>
        </p:spPr>
        <p:txBody>
          <a:bodyPr wrap="square" lIns="0" tIns="0" rIns="0" bIns="0" rtlCol="0" anchor="ctr"/>
          <a:lstStyle/>
          <a:p>
            <a:pPr indent="0" marL="0">
              <a:buNone/>
            </a:pPr>
            <a:r>
              <a:rPr lang="en-US" sz="2200" b="1" dirty="0">
                <a:solidFill>
                  <a:schemeClr val="bg1"/>
                </a:solidFill>
              </a:rPr>
              <a:t>Next steps</a:t>
            </a:r>
            <a:endParaRPr lang="en-US" sz="2200" dirty="0"/>
          </a:p>
        </p:txBody>
      </p:sp>
      <p:sp>
        <p:nvSpPr>
          <p:cNvPr id="12" name="Text 8"/>
          <p:cNvSpPr txBox="1"/>
          <p:nvPr/>
        </p:nvSpPr>
        <p:spPr>
          <a:xfrm>
            <a:off x="6644488" y="2834640"/>
            <a:ext cx="4678528" cy="21945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bg2"/>
                </a:solidFill>
              </a:rPr>
              <a:t>Real devices behind the same interface</a:t>
            </a:r>
            <a:endParaRPr lang="en-US" sz="1600" dirty="0"/>
          </a:p>
          <a:p>
            <a:pPr marL="342900" indent="-342900">
              <a:spcAft>
                <a:spcPts val="1000"/>
              </a:spcAft>
              <a:buSzPct val="100000"/>
              <a:buChar char="•"/>
            </a:pPr>
            <a:r>
              <a:rPr lang="en-US" sz="1600" dirty="0">
                <a:solidFill>
                  <a:schemeClr val="bg2"/>
                </a:solidFill>
              </a:rPr>
              <a:t>The Rust controller on a physical Pi</a:t>
            </a:r>
            <a:endParaRPr lang="en-US" sz="1600" dirty="0"/>
          </a:p>
          <a:p>
            <a:pPr marL="342900" indent="-342900">
              <a:spcAft>
                <a:spcPts val="1000"/>
              </a:spcAft>
              <a:buSzPct val="100000"/>
              <a:buChar char="•"/>
            </a:pPr>
            <a:r>
              <a:rPr lang="en-US" sz="1600" dirty="0">
                <a:solidFill>
                  <a:schemeClr val="bg2"/>
                </a:solidFill>
              </a:rPr>
              <a:t>Calibrate the room model on real data</a:t>
            </a:r>
            <a:endParaRPr lang="en-US" sz="1600" dirty="0"/>
          </a:p>
          <a:p>
            <a:pPr marL="342900" indent="-342900">
              <a:spcAft>
                <a:spcPts val="1000"/>
              </a:spcAft>
              <a:buSzPct val="100000"/>
              <a:buChar char="•"/>
            </a:pPr>
            <a:r>
              <a:rPr lang="en-US" sz="1600" dirty="0">
                <a:solidFill>
                  <a:schemeClr val="bg2"/>
                </a:solidFill>
              </a:rPr>
              <a:t>More loads: heat pumps, batteries</a:t>
            </a:r>
            <a:endParaRPr lang="en-US" sz="1600" dirty="0"/>
          </a:p>
        </p:txBody>
      </p:sp>
      <p:sp>
        <p:nvSpPr>
          <p:cNvPr id="13" name="Repo link"/>
          <p:cNvSpPr txBox="1"/>
          <p:nvPr/>
        </p:nvSpPr>
        <p:spPr>
          <a:xfrm>
            <a:off x="548640" y="5440680"/>
            <a:ext cx="11094415" cy="868680"/>
          </a:xfrm>
          <a:prstGeom prst="rect">
            <a:avLst/>
          </a:prstGeom>
          <a:noFill/>
          <a:ln/>
        </p:spPr>
        <p:txBody>
          <a:bodyPr wrap="square" lIns="0" tIns="0" rIns="0" bIns="0" rtlCol="0" anchor="t"/>
          <a:lstStyle/>
          <a:p>
            <a:pPr indent="0" marL="0">
              <a:buNone/>
            </a:pPr>
            <a:r>
              <a:rPr lang="en-US" sz="1600" dirty="0">
                <a:solidFill>
                  <a:schemeClr val="accent5"/>
                </a:solidFill>
              </a:rPr>
              <a:t>Try it:  </a:t>
            </a:r>
            <a:pPr indent="0" marL="0">
              <a:buNone/>
            </a:pPr>
            <a:r>
              <a:rPr lang="en-US" sz="1600" b="1" u="sng" dirty="0">
                <a:solidFill>
                  <a:schemeClr val="bg1"/>
                </a:solidFill>
                <a:hlinkClick r:id="rId3" invalidUrl="" action="" tgtFrame="" tooltip="" history="1" highlightClick="0" endSnd="0">
                  <a:extLst>
                    <a:ext uri="{A12FA001-AC4F-418D-AE19-62706E023703}">
                      <ahyp:hlinkClr xmlns:ahyp="http://schemas.microsoft.com/office/drawing/2018/hyperlinkcolor" val="tx"/>
                    </a:ext>
                  </a:extLst>
                </a:hlinkClick>
              </a:rPr>
              <a:t>github.com/sohampatwardhan/PeakPilot</a:t>
            </a:r>
            <a:pPr indent="0" marL="0">
              <a:buNone/>
            </a:pPr>
            <a:r>
              <a:rPr lang="en-US" sz="1600" dirty="0">
                <a:solidFill>
                  <a:schemeClr val="accent5"/>
                </a:solidFill>
              </a:rPr>
              <a:t>   ·   pip install -r requirements.txt &amp;&amp; streamlit run app.py</a:t>
            </a:r>
            <a:endParaRPr lang="en-US" sz="1600" dirty="0"/>
          </a:p>
          <a:p>
            <a:pPr indent="0" marL="0">
              <a:spcBef>
                <a:spcPts val="600"/>
              </a:spcBef>
              <a:buNone/>
            </a:pPr>
            <a:r>
              <a:rPr lang="en-US" sz="1600" b="1" dirty="0">
                <a:solidFill>
                  <a:schemeClr val="bg1"/>
                </a:solidFill>
              </a:rPr>
              <a:t>Thank you.</a:t>
            </a:r>
            <a:r>
              <a:rPr lang="en-US" sz="1600" dirty="0">
                <a:solidFill>
                  <a:schemeClr val="accent5"/>
                </a:solidFill>
              </a:rPr>
              <a:t xml:space="preserve">   Climate Tech · Challenge C3   ·   specs, steering and hooks in .kiro/ at the repo root</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How Kiro built it: specs, steering, hooks, MCP</a:t>
            </a:r>
            <a:endParaRPr lang="en-US" sz="3200" dirty="0"/>
          </a:p>
        </p:txBody>
      </p:sp>
      <p:sp>
        <p:nvSpPr>
          <p:cNvPr id="101" name="Spec-driven card"/>
          <p:cNvSpPr/>
          <p:nvPr/>
        </p:nvSpPr>
        <p:spPr>
          <a:xfrm>
            <a:off x="548640" y="1280160"/>
            <a:ext cx="3484778" cy="2148840"/>
          </a:xfrm>
          <a:prstGeom prst="roundRect">
            <a:avLst>
              <a:gd name="adj" fmla="val 5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02" name="Spec-driven circle"/>
          <p:cNvSpPr/>
          <p:nvPr/>
        </p:nvSpPr>
        <p:spPr>
          <a:xfrm>
            <a:off x="777240" y="1508760"/>
            <a:ext cx="640080" cy="640080"/>
          </a:xfrm>
          <a:prstGeom prst="ellipse">
            <a:avLst/>
          </a:prstGeom>
          <a:solidFill>
            <a:schemeClr val="accent1"/>
          </a:solidFill>
          <a:ln w="12700">
            <a:solidFill>
              <a:schemeClr val="accent1"/>
            </a:solidFill>
            <a:prstDash val="solid"/>
          </a:ln>
        </p:spPr>
      </p:sp>
      <p:pic>
        <p:nvPicPr>
          <p:cNvPr id="103" name="Spec-driven icon" descr="Spec-driven">    </p:cNvPr>
          <p:cNvPicPr>
            <a:picLocks noChangeAspect="1"/>
          </p:cNvPicPr>
          <p:nvPr/>
        </p:nvPicPr>
        <p:blipFill>
          <a:blip r:embed="rId11"/>
          <a:stretch>
            <a:fillRect/>
          </a:stretch>
        </p:blipFill>
        <p:spPr>
          <a:xfrm>
            <a:off x="943661" y="1675181"/>
            <a:ext cx="307238" cy="307238"/>
          </a:xfrm>
          <a:prstGeom prst="rect">
            <a:avLst/>
          </a:prstGeom>
        </p:spPr>
      </p:pic>
      <p:sp>
        <p:nvSpPr>
          <p:cNvPr id="104" name="Text 104"/>
          <p:cNvSpPr txBox="1"/>
          <p:nvPr/>
        </p:nvSpPr>
        <p:spPr>
          <a:xfrm>
            <a:off x="1600200" y="1508760"/>
            <a:ext cx="2204618" cy="640080"/>
          </a:xfrm>
          <a:prstGeom prst="rect">
            <a:avLst/>
          </a:prstGeom>
          <a:noFill/>
          <a:ln/>
        </p:spPr>
        <p:txBody>
          <a:bodyPr wrap="square" lIns="0" tIns="0" rIns="0" bIns="0" rtlCol="0" anchor="ctr"/>
          <a:lstStyle/>
          <a:p>
            <a:pPr indent="0" marL="0">
              <a:spcAft>
                <a:spcPts val="400"/>
              </a:spcAft>
              <a:buNone/>
            </a:pPr>
            <a:r>
              <a:rPr lang="en-US" sz="1800" b="1" dirty="0">
                <a:solidFill>
                  <a:schemeClr val="tx2"/>
                </a:solidFill>
              </a:rPr>
              <a:t xml:space="preserve">Spec-driven</a:t>
            </a:r>
            <a:endParaRPr lang="en-US" sz="1800" dirty="0"/>
          </a:p>
        </p:txBody>
      </p:sp>
      <p:sp>
        <p:nvSpPr>
          <p:cNvPr id="105" name="Text 105"/>
          <p:cNvSpPr txBox="1"/>
          <p:nvPr/>
        </p:nvSpPr>
        <p:spPr>
          <a:xfrm>
            <a:off x="777240" y="2308840"/>
            <a:ext cx="3027578" cy="98300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 xml:space="preserve">4 Kiro specs (engine, Rust port, LP benchmark, tests): requirements → design → tasks, with tasks traced to requirements.</a:t>
            </a:r>
            <a:endParaRPr lang="en-US" sz="1400" dirty="0"/>
          </a:p>
        </p:txBody>
      </p:sp>
      <p:sp>
        <p:nvSpPr>
          <p:cNvPr id="106" name="Steering card"/>
          <p:cNvSpPr/>
          <p:nvPr/>
        </p:nvSpPr>
        <p:spPr>
          <a:xfrm>
            <a:off x="4353458" y="1280160"/>
            <a:ext cx="3484778" cy="2148840"/>
          </a:xfrm>
          <a:prstGeom prst="roundRect">
            <a:avLst>
              <a:gd name="adj" fmla="val 5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07" name="Steering circle"/>
          <p:cNvSpPr/>
          <p:nvPr/>
        </p:nvSpPr>
        <p:spPr>
          <a:xfrm>
            <a:off x="4582058" y="1508760"/>
            <a:ext cx="640080" cy="640080"/>
          </a:xfrm>
          <a:prstGeom prst="ellipse">
            <a:avLst/>
          </a:prstGeom>
          <a:solidFill>
            <a:schemeClr val="accent6"/>
          </a:solidFill>
          <a:ln w="12700">
            <a:solidFill>
              <a:schemeClr val="accent6"/>
            </a:solidFill>
            <a:prstDash val="solid"/>
          </a:ln>
        </p:spPr>
      </p:sp>
      <p:pic>
        <p:nvPicPr>
          <p:cNvPr id="108" name="Steering icon" descr="Steering">    </p:cNvPr>
          <p:cNvPicPr>
            <a:picLocks noChangeAspect="1"/>
          </p:cNvPicPr>
          <p:nvPr/>
        </p:nvPicPr>
        <p:blipFill>
          <a:blip r:embed="rId12"/>
          <a:stretch>
            <a:fillRect/>
          </a:stretch>
        </p:blipFill>
        <p:spPr>
          <a:xfrm>
            <a:off x="4748479" y="1675181"/>
            <a:ext cx="307238" cy="307238"/>
          </a:xfrm>
          <a:prstGeom prst="rect">
            <a:avLst/>
          </a:prstGeom>
        </p:spPr>
      </p:pic>
      <p:sp>
        <p:nvSpPr>
          <p:cNvPr id="109" name="Text 109"/>
          <p:cNvSpPr txBox="1"/>
          <p:nvPr/>
        </p:nvSpPr>
        <p:spPr>
          <a:xfrm>
            <a:off x="5405018" y="1508760"/>
            <a:ext cx="2204618" cy="640080"/>
          </a:xfrm>
          <a:prstGeom prst="rect">
            <a:avLst/>
          </a:prstGeom>
          <a:noFill/>
          <a:ln/>
        </p:spPr>
        <p:txBody>
          <a:bodyPr wrap="square" lIns="0" tIns="0" rIns="0" bIns="0" rtlCol="0" anchor="ctr"/>
          <a:lstStyle/>
          <a:p>
            <a:pPr indent="0" marL="0">
              <a:spcAft>
                <a:spcPts val="400"/>
              </a:spcAft>
              <a:buNone/>
            </a:pPr>
            <a:r>
              <a:rPr lang="en-US" sz="1800" b="1" dirty="0">
                <a:solidFill>
                  <a:schemeClr val="tx2"/>
                </a:solidFill>
              </a:rPr>
              <a:t xml:space="preserve">Steering</a:t>
            </a:r>
            <a:endParaRPr lang="en-US" sz="1800" dirty="0"/>
          </a:p>
        </p:txBody>
      </p:sp>
      <p:sp>
        <p:nvSpPr>
          <p:cNvPr id="110" name="Text 110"/>
          <p:cNvSpPr txBox="1"/>
          <p:nvPr/>
        </p:nvSpPr>
        <p:spPr>
          <a:xfrm>
            <a:off x="4582058" y="2308840"/>
            <a:ext cx="3027578" cy="98300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 xml:space="preserve">4 always-on docs: label SIMULATED, no cost or carbon claims, stdlib-only engine, issue → spec → branch → PR.</a:t>
            </a:r>
            <a:endParaRPr lang="en-US" sz="1400" dirty="0"/>
          </a:p>
        </p:txBody>
      </p:sp>
      <p:sp>
        <p:nvSpPr>
          <p:cNvPr id="111" name="Agent hooks card"/>
          <p:cNvSpPr/>
          <p:nvPr/>
        </p:nvSpPr>
        <p:spPr>
          <a:xfrm>
            <a:off x="8158276" y="1280160"/>
            <a:ext cx="3484778" cy="2148840"/>
          </a:xfrm>
          <a:prstGeom prst="roundRect">
            <a:avLst>
              <a:gd name="adj" fmla="val 5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12" name="Agent hooks circle"/>
          <p:cNvSpPr/>
          <p:nvPr/>
        </p:nvSpPr>
        <p:spPr>
          <a:xfrm>
            <a:off x="8386876" y="1508760"/>
            <a:ext cx="640080" cy="640080"/>
          </a:xfrm>
          <a:prstGeom prst="ellipse">
            <a:avLst/>
          </a:prstGeom>
          <a:solidFill>
            <a:schemeClr val="accent3"/>
          </a:solidFill>
          <a:ln w="12700">
            <a:solidFill>
              <a:schemeClr val="accent3"/>
            </a:solidFill>
            <a:prstDash val="solid"/>
          </a:ln>
        </p:spPr>
      </p:sp>
      <p:pic>
        <p:nvPicPr>
          <p:cNvPr id="113" name="Agent hooks icon" descr="Agent hooks">    </p:cNvPr>
          <p:cNvPicPr>
            <a:picLocks noChangeAspect="1"/>
          </p:cNvPicPr>
          <p:nvPr/>
        </p:nvPicPr>
        <p:blipFill>
          <a:blip r:embed="rId13"/>
          <a:stretch>
            <a:fillRect/>
          </a:stretch>
        </p:blipFill>
        <p:spPr>
          <a:xfrm>
            <a:off x="8553297" y="1675181"/>
            <a:ext cx="307238" cy="307238"/>
          </a:xfrm>
          <a:prstGeom prst="rect">
            <a:avLst/>
          </a:prstGeom>
        </p:spPr>
      </p:pic>
      <p:sp>
        <p:nvSpPr>
          <p:cNvPr id="114" name="Text 114"/>
          <p:cNvSpPr txBox="1"/>
          <p:nvPr/>
        </p:nvSpPr>
        <p:spPr>
          <a:xfrm>
            <a:off x="9209836" y="1508760"/>
            <a:ext cx="2204618" cy="640080"/>
          </a:xfrm>
          <a:prstGeom prst="rect">
            <a:avLst/>
          </a:prstGeom>
          <a:noFill/>
          <a:ln/>
        </p:spPr>
        <p:txBody>
          <a:bodyPr wrap="square" lIns="0" tIns="0" rIns="0" bIns="0" rtlCol="0" anchor="ctr"/>
          <a:lstStyle/>
          <a:p>
            <a:pPr indent="0" marL="0">
              <a:spcAft>
                <a:spcPts val="400"/>
              </a:spcAft>
              <a:buNone/>
            </a:pPr>
            <a:r>
              <a:rPr lang="en-US" sz="1800" b="1" dirty="0">
                <a:solidFill>
                  <a:schemeClr val="tx2"/>
                </a:solidFill>
              </a:rPr>
              <a:t xml:space="preserve">Agent hooks</a:t>
            </a:r>
            <a:endParaRPr lang="en-US" sz="1800" dirty="0"/>
          </a:p>
        </p:txBody>
      </p:sp>
      <p:sp>
        <p:nvSpPr>
          <p:cNvPr id="115" name="Text 115"/>
          <p:cNvSpPr txBox="1"/>
          <p:nvPr/>
        </p:nvSpPr>
        <p:spPr>
          <a:xfrm>
            <a:off x="8386876" y="2308840"/>
            <a:ext cx="3027578" cy="98300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 xml:space="preserve">5 hooks: command guard, Context7 docs reminder, Mermaid layout check, diagram suggestions, worktree cleanup.</a:t>
            </a:r>
            <a:endParaRPr lang="en-US" sz="1400" dirty="0"/>
          </a:p>
        </p:txBody>
      </p:sp>
      <p:sp>
        <p:nvSpPr>
          <p:cNvPr id="116" name="MCP card"/>
          <p:cNvSpPr/>
          <p:nvPr/>
        </p:nvSpPr>
        <p:spPr>
          <a:xfrm>
            <a:off x="548640" y="3657600"/>
            <a:ext cx="3484778" cy="2148840"/>
          </a:xfrm>
          <a:prstGeom prst="roundRect">
            <a:avLst>
              <a:gd name="adj" fmla="val 5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17" name="MCP circle"/>
          <p:cNvSpPr/>
          <p:nvPr/>
        </p:nvSpPr>
        <p:spPr>
          <a:xfrm>
            <a:off x="777240" y="3886200"/>
            <a:ext cx="640080" cy="640080"/>
          </a:xfrm>
          <a:prstGeom prst="ellipse">
            <a:avLst/>
          </a:prstGeom>
          <a:solidFill>
            <a:schemeClr val="accent2"/>
          </a:solidFill>
          <a:ln w="12700">
            <a:solidFill>
              <a:schemeClr val="accent2"/>
            </a:solidFill>
            <a:prstDash val="solid"/>
          </a:ln>
        </p:spPr>
      </p:sp>
      <p:pic>
        <p:nvPicPr>
          <p:cNvPr id="118" name="MCP icon" descr="MCP">    </p:cNvPr>
          <p:cNvPicPr>
            <a:picLocks noChangeAspect="1"/>
          </p:cNvPicPr>
          <p:nvPr/>
        </p:nvPicPr>
        <p:blipFill>
          <a:blip r:embed="rId14"/>
          <a:stretch>
            <a:fillRect/>
          </a:stretch>
        </p:blipFill>
        <p:spPr>
          <a:xfrm>
            <a:off x="943661" y="4052621"/>
            <a:ext cx="307238" cy="307238"/>
          </a:xfrm>
          <a:prstGeom prst="rect">
            <a:avLst/>
          </a:prstGeom>
        </p:spPr>
      </p:pic>
      <p:sp>
        <p:nvSpPr>
          <p:cNvPr id="119" name="Text 119"/>
          <p:cNvSpPr txBox="1"/>
          <p:nvPr/>
        </p:nvSpPr>
        <p:spPr>
          <a:xfrm>
            <a:off x="1600200" y="3886200"/>
            <a:ext cx="2204618" cy="640080"/>
          </a:xfrm>
          <a:prstGeom prst="rect">
            <a:avLst/>
          </a:prstGeom>
          <a:noFill/>
          <a:ln/>
        </p:spPr>
        <p:txBody>
          <a:bodyPr wrap="square" lIns="0" tIns="0" rIns="0" bIns="0" rtlCol="0" anchor="ctr"/>
          <a:lstStyle/>
          <a:p>
            <a:pPr indent="0" marL="0">
              <a:spcAft>
                <a:spcPts val="400"/>
              </a:spcAft>
              <a:buNone/>
            </a:pPr>
            <a:r>
              <a:rPr lang="en-US" sz="1800" b="1" dirty="0">
                <a:solidFill>
                  <a:schemeClr val="tx2"/>
                </a:solidFill>
              </a:rPr>
              <a:t xml:space="preserve">MCP</a:t>
            </a:r>
            <a:endParaRPr lang="en-US" sz="1800" dirty="0"/>
          </a:p>
        </p:txBody>
      </p:sp>
      <p:sp>
        <p:nvSpPr>
          <p:cNvPr id="120" name="Text 120"/>
          <p:cNvSpPr txBox="1"/>
          <p:nvPr/>
        </p:nvSpPr>
        <p:spPr>
          <a:xfrm>
            <a:off x="777240" y="4686280"/>
            <a:ext cx="3027578" cy="98300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 xml:space="preserve">chrome-devtools read the live dashboard's accessibility tree and console, leading to PR #14. GitHub MCP ran issues and PRs.</a:t>
            </a:r>
            <a:endParaRPr lang="en-US" sz="1400" dirty="0"/>
          </a:p>
        </p:txBody>
      </p:sp>
      <p:sp>
        <p:nvSpPr>
          <p:cNvPr id="121" name="Property tests card"/>
          <p:cNvSpPr/>
          <p:nvPr/>
        </p:nvSpPr>
        <p:spPr>
          <a:xfrm>
            <a:off x="4353458" y="3657600"/>
            <a:ext cx="3484778" cy="2148840"/>
          </a:xfrm>
          <a:prstGeom prst="roundRect">
            <a:avLst>
              <a:gd name="adj" fmla="val 5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22" name="Property tests circle"/>
          <p:cNvSpPr/>
          <p:nvPr/>
        </p:nvSpPr>
        <p:spPr>
          <a:xfrm>
            <a:off x="4582058" y="3886200"/>
            <a:ext cx="640080" cy="640080"/>
          </a:xfrm>
          <a:prstGeom prst="ellipse">
            <a:avLst/>
          </a:prstGeom>
          <a:solidFill>
            <a:schemeClr val="accent1"/>
          </a:solidFill>
          <a:ln w="12700">
            <a:solidFill>
              <a:schemeClr val="accent1"/>
            </a:solidFill>
            <a:prstDash val="solid"/>
          </a:ln>
        </p:spPr>
      </p:sp>
      <p:pic>
        <p:nvPicPr>
          <p:cNvPr id="123" name="Property tests icon" descr="Property tests">    </p:cNvPr>
          <p:cNvPicPr>
            <a:picLocks noChangeAspect="1"/>
          </p:cNvPicPr>
          <p:nvPr/>
        </p:nvPicPr>
        <p:blipFill>
          <a:blip r:embed="rId15"/>
          <a:stretch>
            <a:fillRect/>
          </a:stretch>
        </p:blipFill>
        <p:spPr>
          <a:xfrm>
            <a:off x="4748479" y="4052621"/>
            <a:ext cx="307238" cy="307238"/>
          </a:xfrm>
          <a:prstGeom prst="rect">
            <a:avLst/>
          </a:prstGeom>
        </p:spPr>
      </p:pic>
      <p:sp>
        <p:nvSpPr>
          <p:cNvPr id="124" name="Text 124"/>
          <p:cNvSpPr txBox="1"/>
          <p:nvPr/>
        </p:nvSpPr>
        <p:spPr>
          <a:xfrm>
            <a:off x="5405018" y="3886200"/>
            <a:ext cx="2204618" cy="640080"/>
          </a:xfrm>
          <a:prstGeom prst="rect">
            <a:avLst/>
          </a:prstGeom>
          <a:noFill/>
          <a:ln/>
        </p:spPr>
        <p:txBody>
          <a:bodyPr wrap="square" lIns="0" tIns="0" rIns="0" bIns="0" rtlCol="0" anchor="ctr"/>
          <a:lstStyle/>
          <a:p>
            <a:pPr indent="0" marL="0">
              <a:spcAft>
                <a:spcPts val="400"/>
              </a:spcAft>
              <a:buNone/>
            </a:pPr>
            <a:r>
              <a:rPr lang="en-US" sz="1800" b="1" dirty="0">
                <a:solidFill>
                  <a:schemeClr val="tx2"/>
                </a:solidFill>
              </a:rPr>
              <a:t xml:space="preserve">Property tests</a:t>
            </a:r>
            <a:endParaRPr lang="en-US" sz="1800" dirty="0"/>
          </a:p>
        </p:txBody>
      </p:sp>
      <p:sp>
        <p:nvSpPr>
          <p:cNvPr id="125" name="Text 125"/>
          <p:cNvSpPr txBox="1"/>
          <p:nvPr/>
        </p:nvSpPr>
        <p:spPr>
          <a:xfrm>
            <a:off x="4582058" y="4686280"/>
            <a:ext cx="3027578" cy="98300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 xml:space="preserve">Rust proptest, 256 cases per property, found 2 real bugs: missed deadlines marked met, offline devices overshooting.</a:t>
            </a:r>
            <a:endParaRPr lang="en-US" sz="1400" dirty="0"/>
          </a:p>
        </p:txBody>
      </p:sp>
      <p:sp>
        <p:nvSpPr>
          <p:cNvPr id="126" name="IDE, CLI, Powers card"/>
          <p:cNvSpPr/>
          <p:nvPr/>
        </p:nvSpPr>
        <p:spPr>
          <a:xfrm>
            <a:off x="8158276" y="3657600"/>
            <a:ext cx="3484778" cy="2148840"/>
          </a:xfrm>
          <a:prstGeom prst="roundRect">
            <a:avLst>
              <a:gd name="adj" fmla="val 5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27" name="IDE, CLI, Powers circle"/>
          <p:cNvSpPr/>
          <p:nvPr/>
        </p:nvSpPr>
        <p:spPr>
          <a:xfrm>
            <a:off x="8386876" y="3886200"/>
            <a:ext cx="640080" cy="640080"/>
          </a:xfrm>
          <a:prstGeom prst="ellipse">
            <a:avLst/>
          </a:prstGeom>
          <a:solidFill>
            <a:schemeClr val="accent6"/>
          </a:solidFill>
          <a:ln w="12700">
            <a:solidFill>
              <a:schemeClr val="accent6"/>
            </a:solidFill>
            <a:prstDash val="solid"/>
          </a:ln>
        </p:spPr>
      </p:sp>
      <p:pic>
        <p:nvPicPr>
          <p:cNvPr id="128" name="IDE, CLI, Powers icon" descr="IDE, CLI, Powers">    </p:cNvPr>
          <p:cNvPicPr>
            <a:picLocks noChangeAspect="1"/>
          </p:cNvPicPr>
          <p:nvPr/>
        </p:nvPicPr>
        <p:blipFill>
          <a:blip r:embed="rId16"/>
          <a:stretch>
            <a:fillRect/>
          </a:stretch>
        </p:blipFill>
        <p:spPr>
          <a:xfrm>
            <a:off x="8553297" y="4052621"/>
            <a:ext cx="307238" cy="307238"/>
          </a:xfrm>
          <a:prstGeom prst="rect">
            <a:avLst/>
          </a:prstGeom>
        </p:spPr>
      </p:pic>
      <p:sp>
        <p:nvSpPr>
          <p:cNvPr id="129" name="Text 129"/>
          <p:cNvSpPr txBox="1"/>
          <p:nvPr/>
        </p:nvSpPr>
        <p:spPr>
          <a:xfrm>
            <a:off x="9209836" y="3886200"/>
            <a:ext cx="2204618" cy="640080"/>
          </a:xfrm>
          <a:prstGeom prst="rect">
            <a:avLst/>
          </a:prstGeom>
          <a:noFill/>
          <a:ln/>
        </p:spPr>
        <p:txBody>
          <a:bodyPr wrap="square" lIns="0" tIns="0" rIns="0" bIns="0" rtlCol="0" anchor="ctr"/>
          <a:lstStyle/>
          <a:p>
            <a:pPr indent="0" marL="0">
              <a:spcAft>
                <a:spcPts val="400"/>
              </a:spcAft>
              <a:buNone/>
            </a:pPr>
            <a:r>
              <a:rPr lang="en-US" sz="1800" b="1" dirty="0">
                <a:solidFill>
                  <a:schemeClr val="tx2"/>
                </a:solidFill>
              </a:rPr>
              <a:t xml:space="preserve">IDE, CLI, Powers</a:t>
            </a:r>
            <a:endParaRPr lang="en-US" sz="1800" dirty="0"/>
          </a:p>
        </p:txBody>
      </p:sp>
      <p:sp>
        <p:nvSpPr>
          <p:cNvPr id="130" name="Text 130"/>
          <p:cNvSpPr txBox="1"/>
          <p:nvPr/>
        </p:nvSpPr>
        <p:spPr>
          <a:xfrm>
            <a:off x="8386876" y="4686280"/>
            <a:ext cx="3027578" cy="98300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 xml:space="preserve">IDE: specs, code and a multi-agent workflow that shipped PR #12. CLI: UI review → PR #14. Context7 Power for API docs.</a:t>
            </a:r>
            <a:endParaRPr lang="en-US" sz="1400" dirty="0"/>
          </a:p>
        </p:txBody>
      </p:sp>
      <p:sp>
        <p:nvSpPr>
          <p:cNvPr id="131" name="Text 131"/>
          <p:cNvSpPr txBox="1"/>
          <p:nvPr/>
        </p:nvSpPr>
        <p:spPr>
          <a:xfrm>
            <a:off x="548640" y="5989320"/>
            <a:ext cx="11094415" cy="320040"/>
          </a:xfrm>
          <a:prstGeom prst="rect">
            <a:avLst/>
          </a:prstGeom>
          <a:noFill/>
          <a:ln/>
        </p:spPr>
        <p:txBody>
          <a:bodyPr wrap="square" lIns="0" tIns="0" rIns="0" bIns="0" rtlCol="0" anchor="t"/>
          <a:lstStyle/>
          <a:p>
            <a:pPr indent="0" marL="0">
              <a:spcAft>
                <a:spcPts val="400"/>
              </a:spcAft>
              <a:buNone/>
            </a:pPr>
            <a:r>
              <a:rPr lang="en-US" sz="1200" i="1" dirty="0">
                <a:solidFill>
                  <a:schemeClr val="accent4"/>
                </a:solidFill>
              </a:rPr>
              <a:t xml:space="preserve">Later specs (ML studies, rooftop PV, React plan) were written with Claude Code in Kiro's spec format and steering. Full account: .kiro/KIRO_USAGE.md</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Who benefits, and how it scales</a:t>
            </a:r>
            <a:endParaRPr lang="en-US" sz="3200" dirty="0"/>
          </a:p>
        </p:txBody>
      </p:sp>
      <p:sp>
        <p:nvSpPr>
          <p:cNvPr id="132" name="Building owners card"/>
          <p:cNvSpPr/>
          <p:nvPr/>
        </p:nvSpPr>
        <p:spPr>
          <a:xfrm>
            <a:off x="548640" y="1280160"/>
            <a:ext cx="3484778" cy="2286000"/>
          </a:xfrm>
          <a:prstGeom prst="roundRect">
            <a:avLst>
              <a:gd name="adj" fmla="val 5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33" name="Building owners circle"/>
          <p:cNvSpPr/>
          <p:nvPr/>
        </p:nvSpPr>
        <p:spPr>
          <a:xfrm>
            <a:off x="777240" y="1508760"/>
            <a:ext cx="640080" cy="640080"/>
          </a:xfrm>
          <a:prstGeom prst="ellipse">
            <a:avLst/>
          </a:prstGeom>
          <a:solidFill>
            <a:schemeClr val="accent1"/>
          </a:solidFill>
          <a:ln w="12700">
            <a:solidFill>
              <a:schemeClr val="accent1"/>
            </a:solidFill>
            <a:prstDash val="solid"/>
          </a:ln>
        </p:spPr>
      </p:sp>
      <p:pic>
        <p:nvPicPr>
          <p:cNvPr id="134" name="Building owners icon" descr="Building owners">    </p:cNvPr>
          <p:cNvPicPr>
            <a:picLocks noChangeAspect="1"/>
          </p:cNvPicPr>
          <p:nvPr/>
        </p:nvPicPr>
        <p:blipFill>
          <a:blip r:embed="rId11"/>
          <a:stretch>
            <a:fillRect/>
          </a:stretch>
        </p:blipFill>
        <p:spPr>
          <a:xfrm>
            <a:off x="943661" y="1675181"/>
            <a:ext cx="307238" cy="307238"/>
          </a:xfrm>
          <a:prstGeom prst="rect">
            <a:avLst/>
          </a:prstGeom>
        </p:spPr>
      </p:pic>
      <p:sp>
        <p:nvSpPr>
          <p:cNvPr id="135" name="Text 135"/>
          <p:cNvSpPr txBox="1"/>
          <p:nvPr/>
        </p:nvSpPr>
        <p:spPr>
          <a:xfrm>
            <a:off x="1600200" y="1508760"/>
            <a:ext cx="2204618" cy="640080"/>
          </a:xfrm>
          <a:prstGeom prst="rect">
            <a:avLst/>
          </a:prstGeom>
          <a:noFill/>
          <a:ln/>
        </p:spPr>
        <p:txBody>
          <a:bodyPr wrap="square" lIns="0" tIns="0" rIns="0" bIns="0" rtlCol="0" anchor="ctr"/>
          <a:lstStyle/>
          <a:p>
            <a:pPr indent="0" marL="0">
              <a:spcAft>
                <a:spcPts val="400"/>
              </a:spcAft>
              <a:buNone/>
            </a:pPr>
            <a:r>
              <a:rPr lang="en-US" sz="1800" b="1" dirty="0">
                <a:solidFill>
                  <a:schemeClr val="tx2"/>
                </a:solidFill>
              </a:rPr>
              <a:t xml:space="preserve">Building owners</a:t>
            </a:r>
            <a:endParaRPr lang="en-US" sz="1800" dirty="0"/>
          </a:p>
        </p:txBody>
      </p:sp>
      <p:sp>
        <p:nvSpPr>
          <p:cNvPr id="136" name="Text 136"/>
          <p:cNvSpPr txBox="1"/>
          <p:nvPr/>
        </p:nvSpPr>
        <p:spPr>
          <a:xfrm>
            <a:off x="777240" y="2308840"/>
            <a:ext cx="3027578" cy="112016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 xml:space="preserve">Add EV chargers and other flexible loads under their existing power limit, with every deadline met and every decision explained.</a:t>
            </a:r>
            <a:endParaRPr lang="en-US" sz="1400" dirty="0"/>
          </a:p>
        </p:txBody>
      </p:sp>
      <p:sp>
        <p:nvSpPr>
          <p:cNvPr id="137" name="Utilities and grid card"/>
          <p:cNvSpPr/>
          <p:nvPr/>
        </p:nvSpPr>
        <p:spPr>
          <a:xfrm>
            <a:off x="4353458" y="1280160"/>
            <a:ext cx="3484778" cy="2286000"/>
          </a:xfrm>
          <a:prstGeom prst="roundRect">
            <a:avLst>
              <a:gd name="adj" fmla="val 5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38" name="Utilities and grid circle"/>
          <p:cNvSpPr/>
          <p:nvPr/>
        </p:nvSpPr>
        <p:spPr>
          <a:xfrm>
            <a:off x="4582058" y="1508760"/>
            <a:ext cx="640080" cy="640080"/>
          </a:xfrm>
          <a:prstGeom prst="ellipse">
            <a:avLst/>
          </a:prstGeom>
          <a:solidFill>
            <a:schemeClr val="accent3"/>
          </a:solidFill>
          <a:ln w="12700">
            <a:solidFill>
              <a:schemeClr val="accent3"/>
            </a:solidFill>
            <a:prstDash val="solid"/>
          </a:ln>
        </p:spPr>
      </p:sp>
      <p:pic>
        <p:nvPicPr>
          <p:cNvPr id="139" name="Utilities and grid icon" descr="Utilities and grid">    </p:cNvPr>
          <p:cNvPicPr>
            <a:picLocks noChangeAspect="1"/>
          </p:cNvPicPr>
          <p:nvPr/>
        </p:nvPicPr>
        <p:blipFill>
          <a:blip r:embed="rId12"/>
          <a:stretch>
            <a:fillRect/>
          </a:stretch>
        </p:blipFill>
        <p:spPr>
          <a:xfrm>
            <a:off x="4748479" y="1675181"/>
            <a:ext cx="307238" cy="307238"/>
          </a:xfrm>
          <a:prstGeom prst="rect">
            <a:avLst/>
          </a:prstGeom>
        </p:spPr>
      </p:pic>
      <p:sp>
        <p:nvSpPr>
          <p:cNvPr id="140" name="Text 140"/>
          <p:cNvSpPr txBox="1"/>
          <p:nvPr/>
        </p:nvSpPr>
        <p:spPr>
          <a:xfrm>
            <a:off x="5405018" y="1508760"/>
            <a:ext cx="2204618" cy="640080"/>
          </a:xfrm>
          <a:prstGeom prst="rect">
            <a:avLst/>
          </a:prstGeom>
          <a:noFill/>
          <a:ln/>
        </p:spPr>
        <p:txBody>
          <a:bodyPr wrap="square" lIns="0" tIns="0" rIns="0" bIns="0" rtlCol="0" anchor="ctr"/>
          <a:lstStyle/>
          <a:p>
            <a:pPr indent="0" marL="0">
              <a:spcAft>
                <a:spcPts val="400"/>
              </a:spcAft>
              <a:buNone/>
            </a:pPr>
            <a:r>
              <a:rPr lang="en-US" sz="1800" b="1" dirty="0">
                <a:solidFill>
                  <a:schemeClr val="tx2"/>
                </a:solidFill>
              </a:rPr>
              <a:t xml:space="preserve">Utilities and grid</a:t>
            </a:r>
            <a:endParaRPr lang="en-US" sz="1800" dirty="0"/>
          </a:p>
        </p:txBody>
      </p:sp>
      <p:sp>
        <p:nvSpPr>
          <p:cNvPr id="141" name="Text 141"/>
          <p:cNvSpPr txBox="1"/>
          <p:nvPr/>
        </p:nvSpPr>
        <p:spPr>
          <a:xfrm>
            <a:off x="4582058" y="2308840"/>
            <a:ext cx="3027578" cy="112016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 xml:space="preserve">Flexible load that moves out of the evening peak, reported in kW and minutes over the limit, including when the limit cannot hold.</a:t>
            </a:r>
            <a:endParaRPr lang="en-US" sz="1400" dirty="0"/>
          </a:p>
        </p:txBody>
      </p:sp>
      <p:sp>
        <p:nvSpPr>
          <p:cNvPr id="142" name="Massachusetts towns card"/>
          <p:cNvSpPr/>
          <p:nvPr/>
        </p:nvSpPr>
        <p:spPr>
          <a:xfrm>
            <a:off x="8158276" y="1280160"/>
            <a:ext cx="3484778" cy="2286000"/>
          </a:xfrm>
          <a:prstGeom prst="roundRect">
            <a:avLst>
              <a:gd name="adj" fmla="val 5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43" name="Massachusetts towns circle"/>
          <p:cNvSpPr/>
          <p:nvPr/>
        </p:nvSpPr>
        <p:spPr>
          <a:xfrm>
            <a:off x="8386876" y="1508760"/>
            <a:ext cx="640080" cy="640080"/>
          </a:xfrm>
          <a:prstGeom prst="ellipse">
            <a:avLst/>
          </a:prstGeom>
          <a:solidFill>
            <a:schemeClr val="accent6"/>
          </a:solidFill>
          <a:ln w="12700">
            <a:solidFill>
              <a:schemeClr val="accent6"/>
            </a:solidFill>
            <a:prstDash val="solid"/>
          </a:ln>
        </p:spPr>
      </p:sp>
      <p:pic>
        <p:nvPicPr>
          <p:cNvPr id="144" name="Massachusetts towns icon" descr="Massachusetts towns">    </p:cNvPr>
          <p:cNvPicPr>
            <a:picLocks noChangeAspect="1"/>
          </p:cNvPicPr>
          <p:nvPr/>
        </p:nvPicPr>
        <p:blipFill>
          <a:blip r:embed="rId13"/>
          <a:stretch>
            <a:fillRect/>
          </a:stretch>
        </p:blipFill>
        <p:spPr>
          <a:xfrm>
            <a:off x="8553297" y="1675181"/>
            <a:ext cx="307238" cy="307238"/>
          </a:xfrm>
          <a:prstGeom prst="rect">
            <a:avLst/>
          </a:prstGeom>
        </p:spPr>
      </p:pic>
      <p:sp>
        <p:nvSpPr>
          <p:cNvPr id="145" name="Text 145"/>
          <p:cNvSpPr txBox="1"/>
          <p:nvPr/>
        </p:nvSpPr>
        <p:spPr>
          <a:xfrm>
            <a:off x="9209836" y="1508760"/>
            <a:ext cx="2204618" cy="640080"/>
          </a:xfrm>
          <a:prstGeom prst="rect">
            <a:avLst/>
          </a:prstGeom>
          <a:noFill/>
          <a:ln/>
        </p:spPr>
        <p:txBody>
          <a:bodyPr wrap="square" lIns="0" tIns="0" rIns="0" bIns="0" rtlCol="0" anchor="ctr"/>
          <a:lstStyle/>
          <a:p>
            <a:pPr indent="0" marL="0">
              <a:spcAft>
                <a:spcPts val="400"/>
              </a:spcAft>
              <a:buNone/>
            </a:pPr>
            <a:r>
              <a:rPr lang="en-US" sz="1800" b="1" dirty="0">
                <a:solidFill>
                  <a:schemeClr val="tx2"/>
                </a:solidFill>
              </a:rPr>
              <a:t xml:space="preserve">Massachusetts towns</a:t>
            </a:r>
            <a:endParaRPr lang="en-US" sz="1800" dirty="0"/>
          </a:p>
        </p:txBody>
      </p:sp>
      <p:sp>
        <p:nvSpPr>
          <p:cNvPr id="146" name="Text 146"/>
          <p:cNvSpPr txBox="1"/>
          <p:nvPr/>
        </p:nvSpPr>
        <p:spPr>
          <a:xfrm>
            <a:off x="8386876" y="2308840"/>
            <a:ext cx="3027578" cy="112016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 xml:space="preserve">351 towns mapped to their utility, landfill renewables from MassGIS. Free and open source (MIT), runs offline with no account.</a:t>
            </a:r>
            <a:endParaRPr lang="en-US" sz="1400" dirty="0"/>
          </a:p>
        </p:txBody>
      </p:sp>
      <p:sp>
        <p:nvSpPr>
          <p:cNvPr id="147" name="Text 147"/>
          <p:cNvSpPr txBox="1"/>
          <p:nvPr/>
        </p:nvSpPr>
        <p:spPr>
          <a:xfrm>
            <a:off x="548640" y="4069080"/>
            <a:ext cx="11094415" cy="320040"/>
          </a:xfrm>
          <a:prstGeom prst="rect">
            <a:avLst/>
          </a:prstGeom>
          <a:noFill/>
          <a:ln/>
        </p:spPr>
        <p:txBody>
          <a:bodyPr wrap="square" lIns="0" tIns="0" rIns="0" bIns="0" rtlCol="0" anchor="ctr"/>
          <a:lstStyle/>
          <a:p>
            <a:pPr indent="0" marL="0">
              <a:spcAft>
                <a:spcPts val="400"/>
              </a:spcAft>
              <a:buNone/>
            </a:pPr>
            <a:r>
              <a:rPr lang="en-US" sz="1600" b="1" dirty="0">
                <a:solidFill>
                  <a:schemeClr val="tx2"/>
                </a:solidFill>
              </a:rPr>
              <a:t xml:space="preserve">How it scales</a:t>
            </a:r>
            <a:endParaRPr lang="en-US" sz="1600" dirty="0"/>
          </a:p>
        </p:txBody>
      </p:sp>
      <p:sp>
        <p:nvSpPr>
          <p:cNvPr id="148" name="Scale step 1"/>
          <p:cNvSpPr/>
          <p:nvPr/>
        </p:nvSpPr>
        <p:spPr>
          <a:xfrm>
            <a:off x="548640" y="4480560"/>
            <a:ext cx="2468880" cy="868680"/>
          </a:xfrm>
          <a:prstGeom prst="roundRect">
            <a:avLst>
              <a:gd name="adj" fmla="val 9524"/>
            </a:avLst>
          </a:prstGeom>
          <a:solidFill>
            <a:schemeClr val="accent6"/>
          </a:solidFill>
          <a:ln w="12700">
            <a:solidFill>
              <a:schemeClr val="accent6"/>
            </a:solidFill>
            <a:prstDash val="solid"/>
          </a:ln>
        </p:spPr>
      </p:sp>
      <p:sp>
        <p:nvSpPr>
          <p:cNvPr id="149" name="Text 149"/>
          <p:cNvSpPr txBox="1"/>
          <p:nvPr/>
        </p:nvSpPr>
        <p:spPr>
          <a:xfrm>
            <a:off x="731520" y="4480560"/>
            <a:ext cx="2103120" cy="868680"/>
          </a:xfrm>
          <a:prstGeom prst="rect">
            <a:avLst/>
          </a:prstGeom>
          <a:noFill/>
          <a:ln/>
        </p:spPr>
        <p:txBody>
          <a:bodyPr wrap="square" lIns="0" tIns="0" rIns="0" bIns="0" rtlCol="0" anchor="ctr"/>
          <a:lstStyle/>
          <a:p>
            <a:pPr algn="ctr" indent="0" marL="0">
              <a:spcAft>
                <a:spcPts val="400"/>
              </a:spcAft>
              <a:buNone/>
            </a:pPr>
            <a:r>
              <a:rPr lang="en-US" sz="1500" b="1" dirty="0">
                <a:solidFill>
                  <a:schemeClr val="bg1"/>
                </a:solidFill>
              </a:rPr>
              <a:t xml:space="preserve">Simulated devices today</a:t>
            </a:r>
            <a:endParaRPr lang="en-US" sz="1500" dirty="0"/>
          </a:p>
        </p:txBody>
      </p:sp>
      <p:sp>
        <p:nvSpPr>
          <p:cNvPr id="150" name="Scale arrow 1"/>
          <p:cNvSpPr/>
          <p:nvPr/>
        </p:nvSpPr>
        <p:spPr>
          <a:xfrm>
            <a:off x="3065221" y="4759452"/>
            <a:ext cx="310896" cy="310896"/>
          </a:xfrm>
          <a:prstGeom prst="rightArrow">
            <a:avLst/>
          </a:prstGeom>
          <a:solidFill>
            <a:schemeClr val="accent5"/>
          </a:solidFill>
          <a:ln w="12700">
            <a:solidFill>
              <a:schemeClr val="accent5"/>
            </a:solidFill>
            <a:prstDash val="solid"/>
          </a:ln>
        </p:spPr>
      </p:sp>
      <p:sp>
        <p:nvSpPr>
          <p:cNvPr id="151" name="Scale step 2"/>
          <p:cNvSpPr/>
          <p:nvPr/>
        </p:nvSpPr>
        <p:spPr>
          <a:xfrm>
            <a:off x="3423818" y="4480560"/>
            <a:ext cx="2468880" cy="868680"/>
          </a:xfrm>
          <a:prstGeom prst="roundRect">
            <a:avLst>
              <a:gd name="adj" fmla="val 9524"/>
            </a:avLst>
          </a:prstGeom>
          <a:solidFill>
            <a:schemeClr val="accent6"/>
          </a:solidFill>
          <a:ln w="12700">
            <a:solidFill>
              <a:schemeClr val="accent6"/>
            </a:solidFill>
            <a:prstDash val="solid"/>
          </a:ln>
        </p:spPr>
      </p:sp>
      <p:sp>
        <p:nvSpPr>
          <p:cNvPr id="152" name="Text 152"/>
          <p:cNvSpPr txBox="1"/>
          <p:nvPr/>
        </p:nvSpPr>
        <p:spPr>
          <a:xfrm>
            <a:off x="3606698" y="4480560"/>
            <a:ext cx="2103120" cy="868680"/>
          </a:xfrm>
          <a:prstGeom prst="rect">
            <a:avLst/>
          </a:prstGeom>
          <a:noFill/>
          <a:ln/>
        </p:spPr>
        <p:txBody>
          <a:bodyPr wrap="square" lIns="0" tIns="0" rIns="0" bIns="0" rtlCol="0" anchor="ctr"/>
          <a:lstStyle/>
          <a:p>
            <a:pPr algn="ctr" indent="0" marL="0">
              <a:spcAft>
                <a:spcPts val="400"/>
              </a:spcAft>
              <a:buNone/>
            </a:pPr>
            <a:r>
              <a:rPr lang="en-US" sz="1500" b="1" dirty="0">
                <a:solidFill>
                  <a:schemeClr val="bg1"/>
                </a:solidFill>
              </a:rPr>
              <a:t xml:space="preserve">Real devices, same reading + command interface</a:t>
            </a:r>
            <a:endParaRPr lang="en-US" sz="1500" dirty="0"/>
          </a:p>
        </p:txBody>
      </p:sp>
      <p:sp>
        <p:nvSpPr>
          <p:cNvPr id="153" name="Scale arrow 2"/>
          <p:cNvSpPr/>
          <p:nvPr/>
        </p:nvSpPr>
        <p:spPr>
          <a:xfrm>
            <a:off x="5940399" y="4759452"/>
            <a:ext cx="310896" cy="310896"/>
          </a:xfrm>
          <a:prstGeom prst="rightArrow">
            <a:avLst/>
          </a:prstGeom>
          <a:solidFill>
            <a:schemeClr val="accent5"/>
          </a:solidFill>
          <a:ln w="12700">
            <a:solidFill>
              <a:schemeClr val="accent5"/>
            </a:solidFill>
            <a:prstDash val="solid"/>
          </a:ln>
        </p:spPr>
      </p:sp>
      <p:sp>
        <p:nvSpPr>
          <p:cNvPr id="154" name="Scale step 3"/>
          <p:cNvSpPr/>
          <p:nvPr/>
        </p:nvSpPr>
        <p:spPr>
          <a:xfrm>
            <a:off x="6298996" y="4480560"/>
            <a:ext cx="2468880" cy="868680"/>
          </a:xfrm>
          <a:prstGeom prst="roundRect">
            <a:avLst>
              <a:gd name="adj" fmla="val 9524"/>
            </a:avLst>
          </a:prstGeom>
          <a:solidFill>
            <a:schemeClr val="accent1"/>
          </a:solidFill>
          <a:ln w="12700">
            <a:solidFill>
              <a:schemeClr val="accent1"/>
            </a:solidFill>
            <a:prstDash val="solid"/>
          </a:ln>
        </p:spPr>
      </p:sp>
      <p:sp>
        <p:nvSpPr>
          <p:cNvPr id="155" name="Text 155"/>
          <p:cNvSpPr txBox="1"/>
          <p:nvPr/>
        </p:nvSpPr>
        <p:spPr>
          <a:xfrm>
            <a:off x="6481876" y="4480560"/>
            <a:ext cx="2103120" cy="868680"/>
          </a:xfrm>
          <a:prstGeom prst="rect">
            <a:avLst/>
          </a:prstGeom>
          <a:noFill/>
          <a:ln/>
        </p:spPr>
        <p:txBody>
          <a:bodyPr wrap="square" lIns="0" tIns="0" rIns="0" bIns="0" rtlCol="0" anchor="ctr"/>
          <a:lstStyle/>
          <a:p>
            <a:pPr algn="ctr" indent="0" marL="0">
              <a:spcAft>
                <a:spcPts val="400"/>
              </a:spcAft>
              <a:buNone/>
            </a:pPr>
            <a:r>
              <a:rPr lang="en-US" sz="1500" b="1" dirty="0">
                <a:solidFill>
                  <a:schemeClr val="bg1"/>
                </a:solidFill>
              </a:rPr>
              <a:t xml:space="preserve">Rust controller on a Raspberry Pi per building</a:t>
            </a:r>
            <a:endParaRPr lang="en-US" sz="1500" dirty="0"/>
          </a:p>
        </p:txBody>
      </p:sp>
      <p:sp>
        <p:nvSpPr>
          <p:cNvPr id="156" name="Scale arrow 3"/>
          <p:cNvSpPr/>
          <p:nvPr/>
        </p:nvSpPr>
        <p:spPr>
          <a:xfrm>
            <a:off x="8815577" y="4759452"/>
            <a:ext cx="310896" cy="310896"/>
          </a:xfrm>
          <a:prstGeom prst="rightArrow">
            <a:avLst/>
          </a:prstGeom>
          <a:solidFill>
            <a:schemeClr val="accent5"/>
          </a:solidFill>
          <a:ln w="12700">
            <a:solidFill>
              <a:schemeClr val="accent5"/>
            </a:solidFill>
            <a:prstDash val="solid"/>
          </a:ln>
        </p:spPr>
      </p:sp>
      <p:sp>
        <p:nvSpPr>
          <p:cNvPr id="157" name="Scale step 4"/>
          <p:cNvSpPr/>
          <p:nvPr/>
        </p:nvSpPr>
        <p:spPr>
          <a:xfrm>
            <a:off x="9174174" y="4480560"/>
            <a:ext cx="2468880" cy="868680"/>
          </a:xfrm>
          <a:prstGeom prst="roundRect">
            <a:avLst>
              <a:gd name="adj" fmla="val 9524"/>
            </a:avLst>
          </a:prstGeom>
          <a:solidFill>
            <a:schemeClr val="accent1"/>
          </a:solidFill>
          <a:ln w="12700">
            <a:solidFill>
              <a:schemeClr val="accent1"/>
            </a:solidFill>
            <a:prstDash val="solid"/>
          </a:ln>
        </p:spPr>
      </p:sp>
      <p:sp>
        <p:nvSpPr>
          <p:cNvPr id="158" name="Text 158"/>
          <p:cNvSpPr txBox="1"/>
          <p:nvPr/>
        </p:nvSpPr>
        <p:spPr>
          <a:xfrm>
            <a:off x="9357054" y="4480560"/>
            <a:ext cx="2103120" cy="868680"/>
          </a:xfrm>
          <a:prstGeom prst="rect">
            <a:avLst/>
          </a:prstGeom>
          <a:noFill/>
          <a:ln/>
        </p:spPr>
        <p:txBody>
          <a:bodyPr wrap="square" lIns="0" tIns="0" rIns="0" bIns="0" rtlCol="0" anchor="ctr"/>
          <a:lstStyle/>
          <a:p>
            <a:pPr algn="ctr" indent="0" marL="0">
              <a:spcAft>
                <a:spcPts val="400"/>
              </a:spcAft>
              <a:buNone/>
            </a:pPr>
            <a:r>
              <a:rPr lang="en-US" sz="1500" b="1" dirty="0">
                <a:solidFill>
                  <a:schemeClr val="bg1"/>
                </a:solidFill>
              </a:rPr>
              <a:t xml:space="preserve">More loads: heat pumps, batteries</a:t>
            </a:r>
            <a:endParaRPr lang="en-US" sz="1500" dirty="0"/>
          </a:p>
        </p:txBody>
      </p:sp>
      <p:sp>
        <p:nvSpPr>
          <p:cNvPr id="159" name="Text 159"/>
          <p:cNvSpPr txBox="1"/>
          <p:nvPr/>
        </p:nvSpPr>
        <p:spPr>
          <a:xfrm>
            <a:off x="548640" y="5532120"/>
            <a:ext cx="11094415" cy="320040"/>
          </a:xfrm>
          <a:prstGeom prst="rect">
            <a:avLst/>
          </a:prstGeom>
          <a:noFill/>
          <a:ln/>
        </p:spPr>
        <p:txBody>
          <a:bodyPr wrap="square" lIns="0" tIns="0" rIns="0" bIns="0" rtlCol="0" anchor="t"/>
          <a:lstStyle/>
          <a:p>
            <a:pPr indent="0" marL="0">
              <a:spcAft>
                <a:spcPts val="400"/>
              </a:spcAft>
              <a:buNone/>
            </a:pPr>
            <a:r>
              <a:rPr lang="en-US" sz="1200" i="1" dirty="0">
                <a:solidFill>
                  <a:schemeClr val="accent4"/>
                </a:solidFill>
              </a:rPr>
              <a:t xml:space="preserve">Working today: simulation, CI and the Pi image build. Not yet: real devices or a physical Pi.</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PeakPilot Night Grid">
  <a:themeElements>
    <a:clrScheme name="PeakPilot Night Grid">
      <a:dk1>
        <a:srgbClr val="16243A"/>
      </a:dk1>
      <a:lt1>
        <a:srgbClr val="FFFFFF"/>
      </a:lt1>
      <a:dk2>
        <a:srgbClr val="0E1A2B"/>
      </a:dk2>
      <a:lt2>
        <a:srgbClr val="EEF2F6"/>
      </a:lt2>
      <a:accent1>
        <a:srgbClr val="1F9E89"/>
      </a:accent1>
      <a:accent2>
        <a:srgbClr val="D1495B"/>
      </a:accent2>
      <a:accent3>
        <a:srgbClr val="F2A541"/>
      </a:accent3>
      <a:accent4>
        <a:srgbClr val="5C6B7A"/>
      </a:accent4>
      <a:accent5>
        <a:srgbClr val="8FB8DE"/>
      </a:accent5>
      <a:accent6>
        <a:srgbClr val="2E4057"/>
      </a:accent6>
      <a:hlink>
        <a:srgbClr val="1F9E89"/>
      </a:hlink>
      <a:folHlink>
        <a:srgbClr val="5C6B7A"/>
      </a:folHlink>
    </a:clrScheme>
    <a:fontScheme name="PeakPilot Night Grid">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PeakPilot — Hackachusetts 2026</dc:title>
  <dc:subject>PptxGenJS Presentation</dc:subject>
  <dc:creator>Soham Patwardhan</dc:creator>
  <cp:lastModifiedBy>Soham Patwardhan</cp:lastModifiedBy>
  <cp:revision>1</cp:revision>
  <dcterms:created xsi:type="dcterms:W3CDTF">2026-10-24T19:51:04Z</dcterms:created>
  <dcterms:modified xsi:type="dcterms:W3CDTF">2026-10-24T19:51:04Z</dcterms:modified>
</cp:coreProperties>
</file>